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82" r:id="rId5"/>
    <p:sldId id="284" r:id="rId6"/>
    <p:sldId id="285" r:id="rId7"/>
    <p:sldId id="296" r:id="rId8"/>
    <p:sldId id="298" r:id="rId9"/>
    <p:sldId id="297" r:id="rId10"/>
    <p:sldId id="286" r:id="rId11"/>
    <p:sldId id="287" r:id="rId12"/>
    <p:sldId id="292" r:id="rId13"/>
    <p:sldId id="304" r:id="rId14"/>
    <p:sldId id="290" r:id="rId15"/>
    <p:sldId id="299" r:id="rId16"/>
    <p:sldId id="300" r:id="rId17"/>
    <p:sldId id="302" r:id="rId18"/>
    <p:sldId id="301" r:id="rId19"/>
    <p:sldId id="303" r:id="rId20"/>
    <p:sldId id="288" r:id="rId21"/>
    <p:sldId id="316" r:id="rId22"/>
    <p:sldId id="315" r:id="rId23"/>
    <p:sldId id="317" r:id="rId24"/>
    <p:sldId id="318" r:id="rId25"/>
    <p:sldId id="291" r:id="rId26"/>
    <p:sldId id="293" r:id="rId27"/>
    <p:sldId id="28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5223" autoAdjust="0"/>
  </p:normalViewPr>
  <p:slideViewPr>
    <p:cSldViewPr snapToGrid="0">
      <p:cViewPr>
        <p:scale>
          <a:sx n="75" d="100"/>
          <a:sy n="75" d="100"/>
        </p:scale>
        <p:origin x="627" y="171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2T18:57:58.84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776 1,'-737'0,"699"0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2T18:57:58.84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710 1,'-7'0,"-11"0,-9 0,-11 0,-4 0,-6 0,0 0,-2 0,0 0,-2 0,3 0,-2 0,4 0,-2 0,4 0,-3 0,8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2T18:57:58.84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684 1,'-11'0,"-9"0,-6 0,-5 0,-8 0,-1 0,-6 0,1 0,-3 0,-1 0,0 0,1 0,-3 0,3 0,-1 0,3 0,9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2T18:57:58.84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538 1,'0'0,"-9"0,-10 0,-12 0,-7 0,-7 0,0 0,-5 0,3 0,-3 0,3 0,-1 0,2 0,9 0,11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2T18:57:58.84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3777 1,'0'0,"-63"0,-70 0,-85 0,-49 0,-49 0,0 0,-35 0,21 0,-21 0,21 0,-7 0,14 0,64 0,76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6E7C-0382-1ECF-41FF-6F86F21A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9A5A3-F49A-7FD6-6D24-D9176BF32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5BC93-A8C5-C794-B5BF-F17FA4CB0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4178D-C3AE-E1E6-6F85-9F697F4A0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244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80CEF-9B41-10E6-0EF1-BCC02465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C4F5A-15C6-CA66-BA77-E2A4EF898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913FD-9082-A072-3B73-E31B68A29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F1E1C-56CF-59B0-F5EA-53714E7EA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656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F8271-5DC7-D386-15FD-AB1603494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9114B-1E80-E8A2-0EFC-E703805D7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5F174-FFEA-A2B4-9E6D-6E6792120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90F0E-4C6C-FEF0-3797-5376D665D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562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DA26-7083-C382-41E0-264DB134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BB98F-5C9E-2D42-125B-82BAD3880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66F9A-81AF-F485-C7E7-2C5A95376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D72A2-8D83-C966-7E2E-02DEE3834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548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77A48-B3D9-3D86-A190-2661ABEE7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5578B-AF13-E63D-45CE-9561768DD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02901-AB9E-3334-E1EB-0731CDB75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A34E9-B598-230A-D635-48BAE1E09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192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C4427-004D-6020-3B9F-5174D390F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A993D-056A-9E15-6D57-28904A03B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DB16A-D1F6-024F-5ED4-775538CD4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EAA92-E648-5958-AAC6-04BC1DA5A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81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14DA-BDAD-0704-B281-F04F9A06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377B3-0F33-6E0A-4E5F-5B79BC30B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CCDDA-25DA-E2A1-F6E0-A53BB2934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862F2-4F63-98C7-B709-B59B47B75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502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92503-AED6-4519-6B75-A31601B1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73290-88A5-78B6-FAF8-F0CBB6AD8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F6A31-C366-65D2-CF02-D18597C0E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5B399-F1DC-FC22-1715-849A860BE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33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903F2-9D2F-0CF4-C2E8-C947CB05E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FDAAB-9718-8DC1-05C9-1FDAD60FC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256F6-2121-19A1-F760-25C693566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274F5-C780-C61B-D46E-396BCD37A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444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E6BA2-990B-B04A-0745-998043FF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CBFEF-9B05-46B7-FE3B-7C0D29BC8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8132D-4352-159A-00CE-A8CA6FE7D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C2415-5708-78C4-BA24-78773C547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7048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D723-7D05-FE5E-B118-5A9AB371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5FED3-5D68-4E7B-D19A-F78FFD396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2E85D-9BC1-5397-61A7-859276763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8EADE-6FC7-C247-67D4-A32929524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3320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1936C-8544-D2B1-9D76-FCFB60F9E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1A3FF-894B-A030-D5C6-B679CC61D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10C92-D3B6-3A67-D93D-5EC3E4F35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A2B45-BDD6-4129-2D1A-0248FA9A7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4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03382-50AF-5DF7-B098-086E7CE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D99A-1392-5349-3AC8-DCDAC3D30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90AA1-9745-E028-4BE7-0F3F8D2D7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1DC22-480C-13F8-8D12-5AB7D9282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7716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5176E-DA74-5926-268C-E8937D710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99FEB-6725-0CC2-6ECB-D19ECAA37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AD004-E34F-EA13-1D3F-A61623D86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8610A-EC96-BD5F-B9C0-E6539F833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5765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8E30E-3C8E-78B0-3B97-51045E9E1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4B7E6-D886-A614-B76C-150457A7D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2DF92-B5B1-168E-756F-8B8F64E7A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23D7A-008D-7AD1-9250-8012E1B03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475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483C2-EA8C-BCC9-8DB0-E80A0C94B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C552C-70BE-9EF5-855B-A48FB1416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C954D-68A1-D86A-D20C-D9FB63089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AE" dirty="0"/>
              <a:t>est results when both the same</a:t>
            </a:r>
          </a:p>
          <a:p>
            <a:endParaRPr lang="en-AE" dirty="0"/>
          </a:p>
          <a:p>
            <a:r>
              <a:rPr lang="en-US" b="1" dirty="0"/>
              <a:t>S</a:t>
            </a:r>
            <a:r>
              <a:rPr lang="en-AE" b="1" dirty="0" err="1"/>
              <a:t>caling</a:t>
            </a:r>
            <a:r>
              <a:rPr lang="en-AE" b="1" dirty="0"/>
              <a:t>:</a:t>
            </a:r>
            <a:r>
              <a:rPr lang="en-AE" dirty="0"/>
              <a:t> highly sensitive</a:t>
            </a:r>
          </a:p>
          <a:p>
            <a:endParaRPr lang="en-AE" dirty="0"/>
          </a:p>
          <a:p>
            <a:r>
              <a:rPr lang="en-AE" b="1" dirty="0"/>
              <a:t>missing duration experiment:</a:t>
            </a:r>
            <a:r>
              <a:rPr lang="en-AE" dirty="0"/>
              <a:t> stable</a:t>
            </a:r>
          </a:p>
          <a:p>
            <a:endParaRPr lang="en-AE" b="0" dirty="0"/>
          </a:p>
          <a:p>
            <a:r>
              <a:rPr lang="en-AE" b="1" dirty="0"/>
              <a:t>missing frequencies:</a:t>
            </a:r>
            <a:r>
              <a:rPr lang="en-AE" dirty="0"/>
              <a:t> accuracy </a:t>
            </a:r>
            <a:r>
              <a:rPr lang="en-AE" b="0" dirty="0"/>
              <a:t>6 Hz </a:t>
            </a:r>
            <a:r>
              <a:rPr lang="en-AE" dirty="0"/>
              <a:t>informative </a:t>
            </a:r>
          </a:p>
          <a:p>
            <a:endParaRPr lang="en-A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b="1" dirty="0"/>
              <a:t>missing data: </a:t>
            </a:r>
            <a:r>
              <a:rPr lang="en-AE" dirty="0"/>
              <a:t>robust during training, not during testing</a:t>
            </a:r>
          </a:p>
          <a:p>
            <a:endParaRPr lang="en-AE" dirty="0"/>
          </a:p>
          <a:p>
            <a:r>
              <a:rPr lang="en-AE" b="1" dirty="0"/>
              <a:t>noise experiment: </a:t>
            </a:r>
            <a:r>
              <a:rPr lang="en-AE" b="0" dirty="0"/>
              <a:t>g</a:t>
            </a:r>
            <a:r>
              <a:rPr lang="en-AE" dirty="0"/>
              <a:t>radually reduced accuracy. However, sharp when alone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4A3D4-A07C-01EB-D78E-7CF29836C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722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2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932" y="2215233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Progress Report</a:t>
            </a:r>
            <a:br>
              <a:rPr lang="en-US" sz="3200" dirty="0"/>
            </a:br>
            <a:r>
              <a:rPr lang="en-US" sz="1800" cap="none" dirty="0"/>
              <a:t>Hind Alzaabi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CA5B9-6D8F-9DB3-C564-C7A5CA31A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CF92-9F98-A765-8EC9-A6C461DC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Literature review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EE22B5F-4549-6015-B815-5719A569B1CF}"/>
              </a:ext>
            </a:extLst>
          </p:cNvPr>
          <p:cNvSpPr txBox="1">
            <a:spLocks/>
          </p:cNvSpPr>
          <p:nvPr/>
        </p:nvSpPr>
        <p:spPr>
          <a:xfrm>
            <a:off x="930573" y="1982931"/>
            <a:ext cx="8783021" cy="2501983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Reviewed papers:</a:t>
            </a:r>
            <a:endParaRPr lang="en-AE" dirty="0"/>
          </a:p>
          <a:p>
            <a:pPr marL="569214" lvl="1" indent="-285750">
              <a:buFontTx/>
              <a:buChar char="-"/>
            </a:pPr>
            <a:r>
              <a:rPr lang="en-AE" dirty="0"/>
              <a:t>Deep Compression</a:t>
            </a:r>
            <a:endParaRPr lang="en-US" dirty="0"/>
          </a:p>
          <a:p>
            <a:pPr marL="569214" lvl="1" indent="-285750">
              <a:buFontTx/>
              <a:buChar char="-"/>
            </a:pPr>
            <a:r>
              <a:rPr lang="en-AE" dirty="0"/>
              <a:t>Distilling the Knowledge in a Neural Network</a:t>
            </a:r>
            <a:endParaRPr lang="en-US" dirty="0"/>
          </a:p>
          <a:p>
            <a:pPr marL="569214" lvl="1" indent="-285750">
              <a:buFontTx/>
              <a:buChar char="-"/>
            </a:pPr>
            <a:r>
              <a:rPr lang="en-AE" dirty="0" err="1"/>
              <a:t>MobileNet</a:t>
            </a:r>
            <a:endParaRPr lang="en-AE" dirty="0"/>
          </a:p>
          <a:p>
            <a:pPr marL="569214" lvl="1" indent="-285750">
              <a:buFontTx/>
              <a:buChar char="-"/>
            </a:pPr>
            <a:r>
              <a:rPr lang="en-AE" dirty="0" err="1"/>
              <a:t>EfficientNet</a:t>
            </a:r>
            <a:endParaRPr lang="en-AE" dirty="0"/>
          </a:p>
          <a:p>
            <a:pPr marL="569214" lvl="1" indent="-285750">
              <a:buFontTx/>
              <a:buChar char="-"/>
            </a:pPr>
            <a:r>
              <a:rPr lang="en-AE" dirty="0" err="1"/>
              <a:t>MCUNet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262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8AE43-8169-7848-5E36-B391F5880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7628-8C10-DD44-42AA-E183F1EFA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dataset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B09D6-C4F5-6E6A-6145-6127294C92FE}"/>
              </a:ext>
            </a:extLst>
          </p:cNvPr>
          <p:cNvSpPr txBox="1">
            <a:spLocks/>
          </p:cNvSpPr>
          <p:nvPr/>
        </p:nvSpPr>
        <p:spPr>
          <a:xfrm>
            <a:off x="930573" y="1821198"/>
            <a:ext cx="8783021" cy="348740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E" dirty="0"/>
              <a:t>BCI Competition 2008 – Graz data set A</a:t>
            </a:r>
            <a:endParaRPr lang="en-US" b="1" dirty="0"/>
          </a:p>
          <a:p>
            <a:pPr marL="569214" lvl="1" indent="-285750">
              <a:buFontTx/>
              <a:buChar char="-"/>
            </a:pPr>
            <a:r>
              <a:rPr lang="en-US" dirty="0"/>
              <a:t>9 subjects, 22 Channels, 1001 samples (250 Hz, 4 seconds of data)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576 trials (12 trials per class, 4 classes per run, 6 runs, 2 sessions)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Files separated into data, labels, and metadata for each subject 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Data saved per subject (trials x channels x samples)</a:t>
            </a:r>
          </a:p>
          <a:p>
            <a:pPr marL="569214" lvl="1" indent="-285750">
              <a:buFontTx/>
              <a:buChar char="-"/>
            </a:pPr>
            <a:endParaRPr lang="en-US" dirty="0"/>
          </a:p>
          <a:p>
            <a:pPr marL="569214" lvl="1" indent="-285750">
              <a:buFontTx/>
              <a:buChar char="-"/>
            </a:pPr>
            <a:r>
              <a:rPr lang="en-US" dirty="0"/>
              <a:t>Tasks: left hand, right hand, feet, tongue</a:t>
            </a:r>
          </a:p>
          <a:p>
            <a:pPr marL="566928" lvl="2" indent="0">
              <a:buNone/>
            </a:pPr>
            <a:endParaRPr lang="en-US" dirty="0"/>
          </a:p>
          <a:p>
            <a:pPr marL="566928" lvl="2" indent="0">
              <a:buNone/>
            </a:pPr>
            <a:endParaRPr lang="en-US" dirty="0"/>
          </a:p>
          <a:p>
            <a:pPr marL="569214" lvl="1" indent="-285750">
              <a:buFontTx/>
              <a:buChar char="-"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28849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639C1-3FA7-752E-8E84-EE6EA6AB7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24B36-BB1D-0F0D-E438-816C4A7E4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3</a:t>
            </a:r>
            <a:endParaRPr lang="en-AE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627260D-13B1-FAA7-5593-AA0AAA447AC3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1E995DD-8AB7-9243-3FCC-9B84F68FA94A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8783021" cy="2242282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b="1" dirty="0"/>
              <a:t>Simple NN model: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Created using </a:t>
            </a:r>
            <a:r>
              <a:rPr lang="en-US" dirty="0" err="1"/>
              <a:t>Pytorch</a:t>
            </a:r>
            <a:endParaRPr lang="en-US" dirty="0"/>
          </a:p>
          <a:p>
            <a:pPr marL="569214" lvl="1" indent="-285750">
              <a:buFontTx/>
              <a:buChar char="-"/>
            </a:pPr>
            <a:r>
              <a:rPr lang="en-US" dirty="0"/>
              <a:t>3 Blocks of 2D convolutions and </a:t>
            </a:r>
            <a:r>
              <a:rPr lang="en-US" dirty="0" err="1"/>
              <a:t>MaxPooling</a:t>
            </a:r>
            <a:endParaRPr lang="en-US" dirty="0"/>
          </a:p>
          <a:p>
            <a:pPr marL="569214" lvl="1" indent="-285750">
              <a:buFontTx/>
              <a:buChar char="-"/>
            </a:pPr>
            <a:r>
              <a:rPr lang="en-US" dirty="0"/>
              <a:t>Worst performing accuracy, only slightly higher than chance (25%)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FC82315-ED4D-A66E-8A43-935BB957B62F}"/>
              </a:ext>
            </a:extLst>
          </p:cNvPr>
          <p:cNvSpPr txBox="1">
            <a:spLocks/>
          </p:cNvSpPr>
          <p:nvPr/>
        </p:nvSpPr>
        <p:spPr>
          <a:xfrm>
            <a:off x="767378" y="3657227"/>
            <a:ext cx="8783021" cy="163449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b="1" dirty="0"/>
              <a:t>Imported </a:t>
            </a:r>
            <a:r>
              <a:rPr lang="en-US" b="1" dirty="0" err="1"/>
              <a:t>EEGNet</a:t>
            </a:r>
            <a:r>
              <a:rPr lang="en-US" b="1" dirty="0"/>
              <a:t> Model: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Imported from GitHub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Written in </a:t>
            </a:r>
            <a:r>
              <a:rPr lang="en-US" dirty="0" err="1"/>
              <a:t>Keras</a:t>
            </a:r>
            <a:endParaRPr lang="en-US" dirty="0"/>
          </a:p>
          <a:p>
            <a:pPr marL="569214" lvl="1" indent="-285750">
              <a:buFontTx/>
              <a:buChar char="-"/>
            </a:pPr>
            <a:r>
              <a:rPr lang="en-US" dirty="0"/>
              <a:t>Training took the longest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8E1640-58D0-7CC1-B05E-2644C7E8E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42" y="2832305"/>
            <a:ext cx="3305244" cy="300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16EAD8-B478-CEF6-895C-B2EEF9C8D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42" y="5488483"/>
            <a:ext cx="4862457" cy="36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32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F556-7142-E927-906C-5B467B2E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ACE9-1955-CC3F-368B-D1E1C938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3</a:t>
            </a:r>
            <a:endParaRPr lang="en-AE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CA9E9D5-9DDC-2A6E-A219-2DD16A83DBBD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4EDD765-E8CC-7049-2D6C-8BBC2335F6EA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8783021" cy="17216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b="1" dirty="0" err="1"/>
              <a:t>EEGNet</a:t>
            </a:r>
            <a:r>
              <a:rPr lang="en-US" b="1" dirty="0"/>
              <a:t> converted to </a:t>
            </a:r>
            <a:r>
              <a:rPr lang="en-US" b="1" dirty="0" err="1"/>
              <a:t>Pytorch</a:t>
            </a:r>
            <a:endParaRPr lang="en-US" b="1" dirty="0"/>
          </a:p>
          <a:p>
            <a:pPr marL="569214" lvl="1" indent="-285750">
              <a:buFontTx/>
              <a:buChar char="-"/>
            </a:pPr>
            <a:r>
              <a:rPr lang="en-US" dirty="0"/>
              <a:t>Similar accuracy to the </a:t>
            </a:r>
            <a:r>
              <a:rPr lang="en-US" dirty="0" err="1"/>
              <a:t>Keras</a:t>
            </a:r>
            <a:r>
              <a:rPr lang="en-US" dirty="0"/>
              <a:t> model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However, significantly faster</a:t>
            </a:r>
          </a:p>
          <a:p>
            <a:pPr marL="569214" lvl="1" indent="-285750">
              <a:buFontTx/>
              <a:buChar char="-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AE70FA-85D9-F009-8499-6A3919B1E9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0"/>
          <a:stretch>
            <a:fillRect/>
          </a:stretch>
        </p:blipFill>
        <p:spPr>
          <a:xfrm>
            <a:off x="5396696" y="2047550"/>
            <a:ext cx="5438815" cy="423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3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6054-FEAE-17B6-532E-646E76B38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A221-08B9-8687-436D-0B98509E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3</a:t>
            </a:r>
            <a:endParaRPr lang="en-AE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1BE7B03-E14E-4A90-D587-61A4DA696D22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2714F38-70DE-9CED-408F-7089E408F93F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8783021" cy="2242282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b="1" dirty="0"/>
              <a:t>Simple CSP + LDA model: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Created using the MOABB library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Best performance and fastest training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E524FE-02A2-1A68-1D85-95A3BD3ED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78" y="3066804"/>
            <a:ext cx="4862458" cy="1389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F19B3B-5C8A-2928-73F8-2F4F9C505D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2"/>
          <a:stretch>
            <a:fillRect/>
          </a:stretch>
        </p:blipFill>
        <p:spPr>
          <a:xfrm>
            <a:off x="6447994" y="1828431"/>
            <a:ext cx="4465812" cy="401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89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CFBAC-3529-5240-96A7-8D4CBCF7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F1EA-4A9B-5535-8C31-921EBE919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baselines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196028-2300-42C8-899F-42226DE03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550177"/>
              </p:ext>
            </p:extLst>
          </p:nvPr>
        </p:nvGraphicFramePr>
        <p:xfrm>
          <a:off x="3454614" y="2150363"/>
          <a:ext cx="5807574" cy="291927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62415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3645159">
                  <a:extLst>
                    <a:ext uri="{9D8B030D-6E8A-4147-A177-3AD203B41FA5}">
                      <a16:colId xmlns:a16="http://schemas.microsoft.com/office/drawing/2014/main" val="3059612261"/>
                    </a:ext>
                  </a:extLst>
                </a:gridCol>
              </a:tblGrid>
              <a:tr h="583854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583854">
                <a:tc>
                  <a:txBody>
                    <a:bodyPr/>
                    <a:lstStyle/>
                    <a:p>
                      <a:r>
                        <a:rPr lang="en-US" b="1" dirty="0"/>
                        <a:t>Simple CNN</a:t>
                      </a:r>
                      <a:endParaRPr lang="en-AE" b="1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31.4%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  <a:tr h="583854">
                <a:tc>
                  <a:txBody>
                    <a:bodyPr/>
                    <a:lstStyle/>
                    <a:p>
                      <a:r>
                        <a:rPr lang="en-US" b="1" dirty="0"/>
                        <a:t>EEGNet (Keras)</a:t>
                      </a:r>
                      <a:endParaRPr lang="en-AE" b="1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51.4% 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583488"/>
                  </a:ext>
                </a:extLst>
              </a:tr>
              <a:tr h="583854">
                <a:tc>
                  <a:txBody>
                    <a:bodyPr/>
                    <a:lstStyle/>
                    <a:p>
                      <a:r>
                        <a:rPr lang="en-US" b="1" dirty="0"/>
                        <a:t>EEGNet (Pytorch)</a:t>
                      </a:r>
                      <a:endParaRPr lang="en-AE" b="1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52.26%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33722"/>
                  </a:ext>
                </a:extLst>
              </a:tr>
              <a:tr h="583854">
                <a:tc>
                  <a:txBody>
                    <a:bodyPr/>
                    <a:lstStyle/>
                    <a:p>
                      <a:r>
                        <a:rPr lang="en-US" b="1" dirty="0"/>
                        <a:t>CSP + LDA</a:t>
                      </a:r>
                      <a:endParaRPr lang="en-AE" b="1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70.5%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782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401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1656-C721-7130-C397-76300B68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1B695-E5D6-3FF3-F435-D9A7F2E0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Robustness experiments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E29A7C2-D568-989C-E143-9FF782E23C84}"/>
              </a:ext>
            </a:extLst>
          </p:cNvPr>
          <p:cNvSpPr txBox="1">
            <a:spLocks/>
          </p:cNvSpPr>
          <p:nvPr/>
        </p:nvSpPr>
        <p:spPr>
          <a:xfrm>
            <a:off x="930573" y="1982931"/>
            <a:ext cx="8783021" cy="2501983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E" b="1" dirty="0"/>
              <a:t>Experiments:</a:t>
            </a:r>
            <a:endParaRPr lang="en-AE" dirty="0"/>
          </a:p>
          <a:p>
            <a:pPr marL="285750" indent="-285750">
              <a:buFontTx/>
              <a:buChar char="-"/>
            </a:pPr>
            <a:r>
              <a:rPr lang="en-AE" dirty="0"/>
              <a:t>Missing channels</a:t>
            </a:r>
          </a:p>
          <a:p>
            <a:pPr marL="285750" indent="-285750">
              <a:buFontTx/>
              <a:buChar char="-"/>
            </a:pPr>
            <a:r>
              <a:rPr lang="en-AE" dirty="0"/>
              <a:t>Scaling </a:t>
            </a:r>
          </a:p>
          <a:p>
            <a:pPr marL="285750" indent="-285750">
              <a:buFontTx/>
              <a:buChar char="-"/>
            </a:pPr>
            <a:r>
              <a:rPr lang="en-AE" dirty="0"/>
              <a:t>Gaussian noise </a:t>
            </a:r>
          </a:p>
          <a:p>
            <a:pPr marL="285750" indent="-285750">
              <a:buFontTx/>
              <a:buChar char="-"/>
            </a:pPr>
            <a:r>
              <a:rPr lang="en-AE" dirty="0"/>
              <a:t>Missing durations </a:t>
            </a:r>
          </a:p>
          <a:p>
            <a:pPr marL="285750" indent="-285750">
              <a:buFontTx/>
              <a:buChar char="-"/>
            </a:pPr>
            <a:r>
              <a:rPr lang="en-AE" dirty="0"/>
              <a:t>Missing frequency bands</a:t>
            </a:r>
          </a:p>
        </p:txBody>
      </p:sp>
    </p:spTree>
    <p:extLst>
      <p:ext uri="{BB962C8B-B14F-4D97-AF65-F5344CB8AC3E}">
        <p14:creationId xmlns:p14="http://schemas.microsoft.com/office/powerpoint/2010/main" val="769960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62E42-41DA-9925-D6D6-90CD3474C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8FD9-9DFC-1F6F-B3D0-7E526078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Robustness experiments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23EBAA0-3528-2756-2F74-49CE5896652F}"/>
              </a:ext>
            </a:extLst>
          </p:cNvPr>
          <p:cNvSpPr txBox="1">
            <a:spLocks/>
          </p:cNvSpPr>
          <p:nvPr/>
        </p:nvSpPr>
        <p:spPr>
          <a:xfrm>
            <a:off x="930573" y="1982931"/>
            <a:ext cx="8783021" cy="4249918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Methodology</a:t>
            </a:r>
            <a:r>
              <a:rPr lang="en-AE" b="1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dirty="0"/>
              <a:t>For each condition, model was evaluated across multiple parameter values</a:t>
            </a:r>
          </a:p>
          <a:p>
            <a:pPr marL="285750" indent="-285750">
              <a:buFontTx/>
              <a:buChar char="-"/>
            </a:pPr>
            <a:r>
              <a:rPr lang="en-AE" dirty="0"/>
              <a:t>Randomized each condition, repeated multiple times, and averaged results</a:t>
            </a:r>
          </a:p>
          <a:p>
            <a:pPr marL="285750" indent="-285750">
              <a:buFontTx/>
              <a:buChar char="-"/>
            </a:pPr>
            <a:r>
              <a:rPr lang="en-AE" dirty="0"/>
              <a:t>Three cases were tested: 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B</a:t>
            </a:r>
            <a:r>
              <a:rPr lang="en-AE" dirty="0" err="1"/>
              <a:t>oth</a:t>
            </a:r>
            <a:r>
              <a:rPr lang="en-AE" dirty="0"/>
              <a:t> train and test datasets were </a:t>
            </a:r>
            <a:r>
              <a:rPr lang="en-AE" dirty="0" err="1"/>
              <a:t>preprocessed</a:t>
            </a:r>
            <a:endParaRPr lang="en-AE" dirty="0"/>
          </a:p>
          <a:p>
            <a:pPr marL="569214" lvl="1" indent="-285750">
              <a:buFontTx/>
              <a:buChar char="-"/>
            </a:pPr>
            <a:r>
              <a:rPr lang="en-AE" dirty="0"/>
              <a:t>Train only </a:t>
            </a:r>
            <a:r>
              <a:rPr lang="en-AE" dirty="0" err="1"/>
              <a:t>preprocessed</a:t>
            </a:r>
            <a:endParaRPr lang="en-AE" dirty="0"/>
          </a:p>
          <a:p>
            <a:pPr marL="569214" lvl="1" indent="-285750">
              <a:buFontTx/>
              <a:buChar char="-"/>
            </a:pPr>
            <a:r>
              <a:rPr lang="en-AE" dirty="0"/>
              <a:t>Test only </a:t>
            </a:r>
            <a:r>
              <a:rPr lang="en-AE" dirty="0" err="1"/>
              <a:t>preprocessed</a:t>
            </a:r>
            <a:endParaRPr lang="en-AE" dirty="0"/>
          </a:p>
          <a:p>
            <a:pPr marL="285750" indent="-285750">
              <a:buFontTx/>
              <a:buChar char="-"/>
            </a:pPr>
            <a:r>
              <a:rPr lang="en-US" dirty="0"/>
              <a:t>P</a:t>
            </a:r>
            <a:r>
              <a:rPr lang="en-AE" dirty="0"/>
              <a:t>er subject K-fold evaluation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P</a:t>
            </a:r>
            <a:r>
              <a:rPr lang="en-AE" dirty="0" err="1"/>
              <a:t>erformance</a:t>
            </a:r>
            <a:r>
              <a:rPr lang="en-AE" dirty="0"/>
              <a:t> calculated using accuracy</a:t>
            </a:r>
          </a:p>
        </p:txBody>
      </p:sp>
    </p:spTree>
    <p:extLst>
      <p:ext uri="{BB962C8B-B14F-4D97-AF65-F5344CB8AC3E}">
        <p14:creationId xmlns:p14="http://schemas.microsoft.com/office/powerpoint/2010/main" val="295931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5660D-C5DB-7F25-86DA-04928430C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76F7-D88E-71C6-232F-CBC1EA2DF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932" y="2215233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Both train and test preprocessed</a:t>
            </a:r>
          </a:p>
        </p:txBody>
      </p:sp>
    </p:spTree>
    <p:extLst>
      <p:ext uri="{BB962C8B-B14F-4D97-AF65-F5344CB8AC3E}">
        <p14:creationId xmlns:p14="http://schemas.microsoft.com/office/powerpoint/2010/main" val="901052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77266-3BF4-BFDE-7140-DDB5C8161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674F2-E714-6F9E-4D30-68B86219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Missing channels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95CEC-82CA-DE91-57D6-595C50032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3477169"/>
            <a:ext cx="2722880" cy="351284"/>
          </a:xfrm>
        </p:spPr>
        <p:txBody>
          <a:bodyPr/>
          <a:lstStyle/>
          <a:p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9EF136-741A-DCC1-A42B-DD784317993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54881" y="3477169"/>
            <a:ext cx="5516880" cy="351284"/>
          </a:xfrm>
        </p:spPr>
        <p:txBody>
          <a:bodyPr/>
          <a:lstStyle/>
          <a:p>
            <a:endParaRPr lang="en-A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487F09-CDFE-588C-246F-7DA450038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2" y="2503392"/>
            <a:ext cx="11214674" cy="29823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414A716-CB29-4737-BD8E-1097F5DB754F}"/>
                  </a:ext>
                </a:extLst>
              </p14:cNvPr>
              <p14:cNvContentPartPr/>
              <p14:nvPr/>
            </p14:nvContentPartPr>
            <p14:xfrm>
              <a:off x="11079158" y="5353717"/>
              <a:ext cx="279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414A716-CB29-4737-BD8E-1097F5DB75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25158" y="5245717"/>
                <a:ext cx="387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EE026FE-671C-EA98-4DCD-9C76BDACEEA8}"/>
                  </a:ext>
                </a:extLst>
              </p14:cNvPr>
              <p14:cNvContentPartPr/>
              <p14:nvPr/>
            </p14:nvContentPartPr>
            <p14:xfrm>
              <a:off x="10645718" y="5353717"/>
              <a:ext cx="25560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EE026FE-671C-EA98-4DCD-9C76BDACEE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91718" y="5245717"/>
                <a:ext cx="363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E4EE998-F13D-89B5-7D95-D21FDDD50599}"/>
                  </a:ext>
                </a:extLst>
              </p14:cNvPr>
              <p14:cNvContentPartPr/>
              <p14:nvPr/>
            </p14:nvContentPartPr>
            <p14:xfrm>
              <a:off x="9659678" y="5353717"/>
              <a:ext cx="24624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E4EE998-F13D-89B5-7D95-D21FDDD505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05678" y="5245717"/>
                <a:ext cx="353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2C10523-49B6-488D-BCB4-C8888B494BD8}"/>
                  </a:ext>
                </a:extLst>
              </p14:cNvPr>
              <p14:cNvContentPartPr/>
              <p14:nvPr/>
            </p14:nvContentPartPr>
            <p14:xfrm>
              <a:off x="8331278" y="5353717"/>
              <a:ext cx="19404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2C10523-49B6-488D-BCB4-C8888B494B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77278" y="5245717"/>
                <a:ext cx="30168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C557F22-2ECC-E058-E4DE-A1D377691513}"/>
              </a:ext>
            </a:extLst>
          </p:cNvPr>
          <p:cNvSpPr txBox="1"/>
          <p:nvPr/>
        </p:nvSpPr>
        <p:spPr>
          <a:xfrm>
            <a:off x="2673394" y="6069911"/>
            <a:ext cx="7598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Fronto-Central: </a:t>
            </a:r>
            <a:r>
              <a:rPr lang="en-US" dirty="0"/>
              <a:t>Motor planning , cognitive control, and executive function</a:t>
            </a:r>
            <a:endParaRPr lang="en-AE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E7B990A-69AD-519C-B3BB-EB0CABDB1CF9}"/>
                  </a:ext>
                </a:extLst>
              </p14:cNvPr>
              <p14:cNvContentPartPr/>
              <p14:nvPr/>
            </p14:nvContentPartPr>
            <p14:xfrm>
              <a:off x="2832095" y="6254577"/>
              <a:ext cx="1362345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E7B990A-69AD-519C-B3BB-EB0CABDB1CF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78005" y="6146577"/>
                <a:ext cx="1470164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2042178-1313-5780-7FCA-5A7CD9EF0517}"/>
              </a:ext>
            </a:extLst>
          </p:cNvPr>
          <p:cNvSpPr txBox="1"/>
          <p:nvPr/>
        </p:nvSpPr>
        <p:spPr>
          <a:xfrm>
            <a:off x="1097901" y="1734540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accuracy: 68.5%</a:t>
            </a:r>
          </a:p>
        </p:txBody>
      </p:sp>
    </p:spTree>
    <p:extLst>
      <p:ext uri="{BB962C8B-B14F-4D97-AF65-F5344CB8AC3E}">
        <p14:creationId xmlns:p14="http://schemas.microsoft.com/office/powerpoint/2010/main" val="148382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18039-0363-AC45-3E3A-8E0F91B49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BE87-6598-244F-9686-720131AB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scaling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52BF9E-01BE-1E41-7E6A-1E75A08F628B}"/>
              </a:ext>
            </a:extLst>
          </p:cNvPr>
          <p:cNvSpPr txBox="1"/>
          <p:nvPr/>
        </p:nvSpPr>
        <p:spPr>
          <a:xfrm>
            <a:off x="1097901" y="1734540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accuracy: </a:t>
            </a:r>
            <a:r>
              <a:rPr lang="en-AE" dirty="0"/>
              <a:t>70.5</a:t>
            </a:r>
            <a:r>
              <a:rPr lang="en-US" dirty="0"/>
              <a:t>%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186081-AE5F-1B0D-AA9E-0DC2644AF3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6"/>
          <a:stretch>
            <a:fillRect/>
          </a:stretch>
        </p:blipFill>
        <p:spPr>
          <a:xfrm>
            <a:off x="3850152" y="2589245"/>
            <a:ext cx="4371625" cy="317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72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5B829-9F58-00EF-9C8D-8C54CA823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56E3-56AD-DB37-44C3-A4069F6AC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Missing durations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FC8374-993B-7953-D91F-7553496DF558}"/>
              </a:ext>
            </a:extLst>
          </p:cNvPr>
          <p:cNvSpPr txBox="1"/>
          <p:nvPr/>
        </p:nvSpPr>
        <p:spPr>
          <a:xfrm>
            <a:off x="1097901" y="1734540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accuracy: 69.9%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4D926B-9C0E-96EA-B0BB-4FB191FD3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897" y="2679696"/>
            <a:ext cx="4402383" cy="316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87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CB2A8-2DB2-B038-9909-FD33192B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1574-42D4-8550-850F-8029A99BB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Missing durations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4CD2CC6-3A04-F74C-7ADB-CE4613A2F61C}"/>
              </a:ext>
            </a:extLst>
          </p:cNvPr>
          <p:cNvSpPr txBox="1">
            <a:spLocks/>
          </p:cNvSpPr>
          <p:nvPr/>
        </p:nvSpPr>
        <p:spPr>
          <a:xfrm>
            <a:off x="1130438" y="1749347"/>
            <a:ext cx="8025190" cy="470399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100 durations from FC3 and FC4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DBBC03-9045-864E-8032-DAF66B63F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134" y="3318514"/>
            <a:ext cx="4422374" cy="31819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2B6E52-DA59-6047-34EC-A6E7E325A1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82" t="5741" r="1597" b="3174"/>
          <a:stretch>
            <a:fillRect/>
          </a:stretch>
        </p:blipFill>
        <p:spPr>
          <a:xfrm>
            <a:off x="4134361" y="2608922"/>
            <a:ext cx="4003548" cy="82007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D22B05-274F-879C-4586-F8B56773AB6B}"/>
              </a:ext>
            </a:extLst>
          </p:cNvPr>
          <p:cNvCxnSpPr>
            <a:cxnSpLocks/>
          </p:cNvCxnSpPr>
          <p:nvPr/>
        </p:nvCxnSpPr>
        <p:spPr>
          <a:xfrm>
            <a:off x="5348861" y="2076462"/>
            <a:ext cx="0" cy="4313518"/>
          </a:xfrm>
          <a:prstGeom prst="line">
            <a:avLst/>
          </a:prstGeom>
          <a:ln>
            <a:solidFill>
              <a:srgbClr val="4285F4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393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93AEE-30CE-21FE-B9D2-260C1DAF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F37F-CD84-DD44-DAF8-0D75F50C8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Missing frequencies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0F973D-7311-C2AF-1749-9132EAF784B1}"/>
              </a:ext>
            </a:extLst>
          </p:cNvPr>
          <p:cNvSpPr txBox="1"/>
          <p:nvPr/>
        </p:nvSpPr>
        <p:spPr>
          <a:xfrm>
            <a:off x="1097901" y="1734540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accuracy: </a:t>
            </a:r>
            <a:r>
              <a:rPr lang="en-AE" dirty="0"/>
              <a:t>68.7</a:t>
            </a:r>
            <a:r>
              <a:rPr lang="en-US" dirty="0"/>
              <a:t>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971B8-472B-5E37-557E-3D292F47A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222" y="2978956"/>
            <a:ext cx="4073692" cy="29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696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B7AEE-EE1D-E623-013F-E74A95D5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AD5B8-04D1-2997-08D3-1D76DC74A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Gaussian noise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81B940-5BB2-558B-C5A2-63E80F4BE90A}"/>
              </a:ext>
            </a:extLst>
          </p:cNvPr>
          <p:cNvSpPr txBox="1"/>
          <p:nvPr/>
        </p:nvSpPr>
        <p:spPr>
          <a:xfrm>
            <a:off x="1097901" y="1734540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accuracy: </a:t>
            </a:r>
            <a:r>
              <a:rPr lang="en-AE" dirty="0"/>
              <a:t>62.7</a:t>
            </a:r>
            <a:r>
              <a:rPr lang="en-US" dirty="0"/>
              <a:t>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764FA-54A9-DA1E-D29B-B9EE0F3D6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773" y="2713886"/>
            <a:ext cx="4370488" cy="322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25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D5F7F-5E5E-1250-19D3-C16DD5C4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551C-CF46-ECCA-AFCC-5BAEA119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Robustness experiments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295B44-5AC4-8719-09AC-4B65C3692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571358"/>
              </p:ext>
            </p:extLst>
          </p:nvPr>
        </p:nvGraphicFramePr>
        <p:xfrm>
          <a:off x="3019183" y="1963751"/>
          <a:ext cx="5440572" cy="4211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2180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3228392">
                  <a:extLst>
                    <a:ext uri="{9D8B030D-6E8A-4147-A177-3AD203B41FA5}">
                      <a16:colId xmlns:a16="http://schemas.microsoft.com/office/drawing/2014/main" val="3059612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Condition 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Baseline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70.5%</a:t>
                      </a:r>
                    </a:p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617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Scaling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70.5%</a:t>
                      </a:r>
                      <a:br>
                        <a:rPr lang="en-US" dirty="0"/>
                      </a:b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304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Missing durations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69.9%</a:t>
                      </a:r>
                      <a:endParaRPr lang="en-AE" dirty="0"/>
                    </a:p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473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Missing frequencies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68.7%</a:t>
                      </a:r>
                      <a:endParaRPr lang="en-AE" dirty="0"/>
                    </a:p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536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Missing data</a:t>
                      </a:r>
                      <a:endParaRPr lang="en-A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68.5%</a:t>
                      </a:r>
                      <a:endParaRPr lang="en-AE" dirty="0"/>
                    </a:p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783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Noise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62.7%</a:t>
                      </a:r>
                    </a:p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195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872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B03C1-7616-37F8-E8F7-9EC1CCE45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0218F-692F-E959-A311-68E00AADE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932" y="2215233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train and test alone</a:t>
            </a:r>
          </a:p>
        </p:txBody>
      </p:sp>
    </p:spTree>
    <p:extLst>
      <p:ext uri="{BB962C8B-B14F-4D97-AF65-F5344CB8AC3E}">
        <p14:creationId xmlns:p14="http://schemas.microsoft.com/office/powerpoint/2010/main" val="34155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6097A-81DC-9B12-3A20-D24A4D9B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5446B5E-DC49-EADF-1169-EB2F78E82B3A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271B50-B7F9-5361-5F22-8AE7FCB97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745" y="2047453"/>
            <a:ext cx="7766209" cy="2065279"/>
          </a:xfrm>
          <a:prstGeom prst="rect">
            <a:avLst/>
          </a:prstGeom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65DFDE7-4CC2-BABE-B1A3-1A2C522E362F}"/>
              </a:ext>
            </a:extLst>
          </p:cNvPr>
          <p:cNvSpPr txBox="1">
            <a:spLocks/>
          </p:cNvSpPr>
          <p:nvPr/>
        </p:nvSpPr>
        <p:spPr>
          <a:xfrm>
            <a:off x="1008268" y="1682077"/>
            <a:ext cx="4677728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 only preprocessed: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9ECA99A-32CA-DE88-69B8-080B45090F30}"/>
              </a:ext>
            </a:extLst>
          </p:cNvPr>
          <p:cNvSpPr txBox="1">
            <a:spLocks/>
          </p:cNvSpPr>
          <p:nvPr/>
        </p:nvSpPr>
        <p:spPr>
          <a:xfrm>
            <a:off x="991081" y="4130039"/>
            <a:ext cx="4677728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 only preprocessed: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D551B3-9D5E-4C85-017D-F4E752D14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746" y="4537594"/>
            <a:ext cx="7822193" cy="209428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2D97150-FC53-9D7B-5967-FFB187D81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Missing channels</a:t>
            </a:r>
          </a:p>
        </p:txBody>
      </p:sp>
    </p:spTree>
    <p:extLst>
      <p:ext uri="{BB962C8B-B14F-4D97-AF65-F5344CB8AC3E}">
        <p14:creationId xmlns:p14="http://schemas.microsoft.com/office/powerpoint/2010/main" val="388609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7517-B2F5-7736-4E21-3E0E9A580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C1A1A1F-B675-609A-7130-6A27E58E0517}"/>
              </a:ext>
            </a:extLst>
          </p:cNvPr>
          <p:cNvSpPr txBox="1">
            <a:spLocks/>
          </p:cNvSpPr>
          <p:nvPr/>
        </p:nvSpPr>
        <p:spPr>
          <a:xfrm>
            <a:off x="767379" y="1186718"/>
            <a:ext cx="2766336" cy="512296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0EBA5-4BF2-7D58-7FDE-CFF73A20E8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6"/>
          <a:stretch>
            <a:fillRect/>
          </a:stretch>
        </p:blipFill>
        <p:spPr>
          <a:xfrm>
            <a:off x="944721" y="2561460"/>
            <a:ext cx="3197452" cy="23233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6FF4DF-F6E3-6468-8D14-7C0B3A1C3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516" y="2529383"/>
            <a:ext cx="3197452" cy="23554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D261C6-4406-C3B7-D8C7-5B56A857B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485" y="2529383"/>
            <a:ext cx="3244645" cy="2395957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CD04D13-6084-C017-06B2-56882E058A5A}"/>
              </a:ext>
            </a:extLst>
          </p:cNvPr>
          <p:cNvSpPr txBox="1">
            <a:spLocks/>
          </p:cNvSpPr>
          <p:nvPr/>
        </p:nvSpPr>
        <p:spPr>
          <a:xfrm>
            <a:off x="1454694" y="2094269"/>
            <a:ext cx="2149812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Both preprocessed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C0B5335-8BE8-F73D-DC32-1A475DC408EA}"/>
              </a:ext>
            </a:extLst>
          </p:cNvPr>
          <p:cNvSpPr txBox="1">
            <a:spLocks/>
          </p:cNvSpPr>
          <p:nvPr/>
        </p:nvSpPr>
        <p:spPr>
          <a:xfrm>
            <a:off x="4907849" y="2094269"/>
            <a:ext cx="2283465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 preprocessed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148A61D-F93C-8FC9-08B2-17718CBFF993}"/>
              </a:ext>
            </a:extLst>
          </p:cNvPr>
          <p:cNvSpPr txBox="1">
            <a:spLocks/>
          </p:cNvSpPr>
          <p:nvPr/>
        </p:nvSpPr>
        <p:spPr>
          <a:xfrm>
            <a:off x="8494658" y="2053730"/>
            <a:ext cx="2283465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 preprocessed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764D25A-ECD4-E8E5-42DD-E79F56AB3D3F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FC530CD-671A-A7C3-DCBF-6C0A15FF11A8}"/>
              </a:ext>
            </a:extLst>
          </p:cNvPr>
          <p:cNvSpPr txBox="1">
            <a:spLocks/>
          </p:cNvSpPr>
          <p:nvPr/>
        </p:nvSpPr>
        <p:spPr>
          <a:xfrm>
            <a:off x="919778" y="1339118"/>
            <a:ext cx="4862457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E" dirty="0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94B311D6-7778-C32C-F8D5-7004EF7160D7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FA72E8D4-2991-B162-06DD-D3C0EBA9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scaling</a:t>
            </a:r>
          </a:p>
        </p:txBody>
      </p:sp>
    </p:spTree>
    <p:extLst>
      <p:ext uri="{BB962C8B-B14F-4D97-AF65-F5344CB8AC3E}">
        <p14:creationId xmlns:p14="http://schemas.microsoft.com/office/powerpoint/2010/main" val="3097706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4F2FE-FD4E-61EC-CBBA-55B486702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E1D55AB-9B9E-16E7-BD66-440F6A27EA49}"/>
              </a:ext>
            </a:extLst>
          </p:cNvPr>
          <p:cNvSpPr txBox="1">
            <a:spLocks/>
          </p:cNvSpPr>
          <p:nvPr/>
        </p:nvSpPr>
        <p:spPr>
          <a:xfrm>
            <a:off x="767379" y="1186718"/>
            <a:ext cx="2766336" cy="512296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6AA8486-B118-50B5-1E86-ABCAEC6D228A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2B8833E-2367-5A40-540D-8F7E3CD4D393}"/>
              </a:ext>
            </a:extLst>
          </p:cNvPr>
          <p:cNvSpPr txBox="1">
            <a:spLocks/>
          </p:cNvSpPr>
          <p:nvPr/>
        </p:nvSpPr>
        <p:spPr>
          <a:xfrm>
            <a:off x="919778" y="1339118"/>
            <a:ext cx="4862457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E" dirty="0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7A8847BD-28D9-2645-D13F-514EA907AD49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A1B108A-FFAD-2D0E-D06A-BF6F7FE8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Missing durations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F1588A-CC74-EFED-1947-7243F7A37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10" y="2652086"/>
            <a:ext cx="3586420" cy="25787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487580-64C0-4503-971C-B4E3711FE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630" y="2734870"/>
            <a:ext cx="3431908" cy="24959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2E0809-6287-1578-296D-B51465036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015" y="2885680"/>
            <a:ext cx="3270991" cy="2373184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E302EB7-64A2-323F-B4E7-B7275FB8BB2C}"/>
              </a:ext>
            </a:extLst>
          </p:cNvPr>
          <p:cNvSpPr txBox="1">
            <a:spLocks/>
          </p:cNvSpPr>
          <p:nvPr/>
        </p:nvSpPr>
        <p:spPr>
          <a:xfrm>
            <a:off x="1600102" y="2422349"/>
            <a:ext cx="2149812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Both preprocessed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02AE1AB9-03FC-D608-9BBA-CEB8E228D675}"/>
              </a:ext>
            </a:extLst>
          </p:cNvPr>
          <p:cNvSpPr txBox="1">
            <a:spLocks/>
          </p:cNvSpPr>
          <p:nvPr/>
        </p:nvSpPr>
        <p:spPr>
          <a:xfrm>
            <a:off x="4855560" y="2418490"/>
            <a:ext cx="2480879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 preprocessed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29559A4-91C9-4234-C290-3F3E48E5C700}"/>
              </a:ext>
            </a:extLst>
          </p:cNvPr>
          <p:cNvSpPr txBox="1">
            <a:spLocks/>
          </p:cNvSpPr>
          <p:nvPr/>
        </p:nvSpPr>
        <p:spPr>
          <a:xfrm>
            <a:off x="8571169" y="2418489"/>
            <a:ext cx="2480879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 preprocessed</a:t>
            </a:r>
          </a:p>
        </p:txBody>
      </p:sp>
    </p:spTree>
    <p:extLst>
      <p:ext uri="{BB962C8B-B14F-4D97-AF65-F5344CB8AC3E}">
        <p14:creationId xmlns:p14="http://schemas.microsoft.com/office/powerpoint/2010/main" val="1450266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86034-2909-7FD5-BC68-8E219E44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3D2BC-6499-BFAB-24D2-05D2FFCCB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Missing frequencies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351364-3652-EAFC-787E-6961D6F5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26"/>
          <a:stretch>
            <a:fillRect/>
          </a:stretch>
        </p:blipFill>
        <p:spPr>
          <a:xfrm>
            <a:off x="767377" y="2882092"/>
            <a:ext cx="3279579" cy="2305694"/>
          </a:xfrm>
          <a:prstGeom prst="rect">
            <a:avLst/>
          </a:prstGeom>
        </p:spPr>
      </p:pic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811EFBF-117E-2046-5122-72057E2E31D6}"/>
              </a:ext>
            </a:extLst>
          </p:cNvPr>
          <p:cNvSpPr txBox="1">
            <a:spLocks/>
          </p:cNvSpPr>
          <p:nvPr/>
        </p:nvSpPr>
        <p:spPr>
          <a:xfrm>
            <a:off x="1543466" y="2352701"/>
            <a:ext cx="2149812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Both preprocessed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3512EF3-F175-946F-7132-3D7E10D12DFE}"/>
              </a:ext>
            </a:extLst>
          </p:cNvPr>
          <p:cNvSpPr txBox="1">
            <a:spLocks/>
          </p:cNvSpPr>
          <p:nvPr/>
        </p:nvSpPr>
        <p:spPr>
          <a:xfrm>
            <a:off x="4798924" y="2348842"/>
            <a:ext cx="2480879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 preprocessed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F28E17E-E417-4F7A-40FC-A3C26B912AE6}"/>
              </a:ext>
            </a:extLst>
          </p:cNvPr>
          <p:cNvSpPr txBox="1">
            <a:spLocks/>
          </p:cNvSpPr>
          <p:nvPr/>
        </p:nvSpPr>
        <p:spPr>
          <a:xfrm>
            <a:off x="8514533" y="2348841"/>
            <a:ext cx="2480879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 preprocessed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C603C-9DD0-7EF8-DF2D-D2610063E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649" y="2743035"/>
            <a:ext cx="3361123" cy="2483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0A42F0-C272-C91E-9485-FFBC02548A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3840" y="2790305"/>
            <a:ext cx="3361123" cy="243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75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3D0170-5EED-1395-5878-0C2649616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55" y="2813992"/>
            <a:ext cx="3369228" cy="24895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317B4F-FB9E-AE34-B356-8416EBB856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54"/>
          <a:stretch>
            <a:fillRect/>
          </a:stretch>
        </p:blipFill>
        <p:spPr>
          <a:xfrm>
            <a:off x="4464477" y="2926080"/>
            <a:ext cx="3369228" cy="24017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73501C-ACB1-1755-7F64-9B7D084470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1" t="2189" b="1"/>
          <a:stretch>
            <a:fillRect/>
          </a:stretch>
        </p:blipFill>
        <p:spPr>
          <a:xfrm>
            <a:off x="8017222" y="2926080"/>
            <a:ext cx="3251620" cy="2371531"/>
          </a:xfrm>
          <a:prstGeom prst="rect">
            <a:avLst/>
          </a:prstGeom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C9868F1-E7C0-0A6F-827B-EC74025CFF3F}"/>
              </a:ext>
            </a:extLst>
          </p:cNvPr>
          <p:cNvSpPr txBox="1">
            <a:spLocks/>
          </p:cNvSpPr>
          <p:nvPr/>
        </p:nvSpPr>
        <p:spPr>
          <a:xfrm>
            <a:off x="1690950" y="2406704"/>
            <a:ext cx="2149812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Both preprocessed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AE90B49C-C249-7245-09EA-C67471247592}"/>
              </a:ext>
            </a:extLst>
          </p:cNvPr>
          <p:cNvSpPr txBox="1">
            <a:spLocks/>
          </p:cNvSpPr>
          <p:nvPr/>
        </p:nvSpPr>
        <p:spPr>
          <a:xfrm>
            <a:off x="4946408" y="2402845"/>
            <a:ext cx="2480879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 preprocessed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ED19C903-69D1-DD77-1266-A18AB80EA789}"/>
              </a:ext>
            </a:extLst>
          </p:cNvPr>
          <p:cNvSpPr txBox="1">
            <a:spLocks/>
          </p:cNvSpPr>
          <p:nvPr/>
        </p:nvSpPr>
        <p:spPr>
          <a:xfrm>
            <a:off x="8662017" y="2402844"/>
            <a:ext cx="2480879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 preprocessed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18AE691-3177-2378-E6D7-A1989F105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Added noise</a:t>
            </a:r>
          </a:p>
        </p:txBody>
      </p:sp>
    </p:spTree>
    <p:extLst>
      <p:ext uri="{BB962C8B-B14F-4D97-AF65-F5344CB8AC3E}">
        <p14:creationId xmlns:p14="http://schemas.microsoft.com/office/powerpoint/2010/main" val="2886920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284D3-7D0B-CF3E-DF2F-4BE8B10B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56D85-610F-F3C1-E8A7-31400DE3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73" y="473519"/>
            <a:ext cx="8424921" cy="1213767"/>
          </a:xfrm>
        </p:spPr>
        <p:txBody>
          <a:bodyPr>
            <a:normAutofit/>
          </a:bodyPr>
          <a:lstStyle/>
          <a:p>
            <a:r>
              <a:rPr lang="en-US" sz="3200" dirty="0"/>
              <a:t>Robustness experiments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57E0D0-582C-5004-14CC-641B93935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224563"/>
              </p:ext>
            </p:extLst>
          </p:nvPr>
        </p:nvGraphicFramePr>
        <p:xfrm>
          <a:off x="2282891" y="1926429"/>
          <a:ext cx="7013510" cy="4211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02023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357535">
                  <a:extLst>
                    <a:ext uri="{9D8B030D-6E8A-4147-A177-3AD203B41FA5}">
                      <a16:colId xmlns:a16="http://schemas.microsoft.com/office/drawing/2014/main" val="3059612261"/>
                    </a:ext>
                  </a:extLst>
                </a:gridCol>
                <a:gridCol w="2453952">
                  <a:extLst>
                    <a:ext uri="{9D8B030D-6E8A-4147-A177-3AD203B41FA5}">
                      <a16:colId xmlns:a16="http://schemas.microsoft.com/office/drawing/2014/main" val="1317265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Condition 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 only 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only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Baseline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70.5%</a:t>
                      </a:r>
                    </a:p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70.5%</a:t>
                      </a:r>
                    </a:p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617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Scaling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35.6%</a:t>
                      </a:r>
                      <a:br>
                        <a:rPr lang="en-US" dirty="0"/>
                      </a:b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30.3%</a:t>
                      </a:r>
                      <a:endParaRPr lang="en-A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304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Missing durations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68.7%</a:t>
                      </a:r>
                      <a:endParaRPr lang="en-AE" dirty="0"/>
                    </a:p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58.8%</a:t>
                      </a:r>
                      <a:endParaRPr lang="en-AE" dirty="0"/>
                    </a:p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473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Missing frequencies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67.3%</a:t>
                      </a:r>
                      <a:endParaRPr lang="en-AE" dirty="0"/>
                    </a:p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63.5%</a:t>
                      </a:r>
                      <a:endParaRPr lang="en-AE" dirty="0"/>
                    </a:p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536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Missing data</a:t>
                      </a:r>
                      <a:endParaRPr lang="en-A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70.1%</a:t>
                      </a:r>
                      <a:endParaRPr lang="en-AE" dirty="0"/>
                    </a:p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39.0%</a:t>
                      </a:r>
                      <a:endParaRPr lang="en-AE" dirty="0"/>
                    </a:p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783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Noise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45.1%</a:t>
                      </a:r>
                      <a:endParaRPr lang="en-AE" dirty="0"/>
                    </a:p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26.9%</a:t>
                      </a:r>
                      <a:endParaRPr lang="en-AE" dirty="0"/>
                    </a:p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195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82173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151</TotalTime>
  <Words>504</Words>
  <Application>Microsoft Office PowerPoint</Application>
  <PresentationFormat>Widescreen</PresentationFormat>
  <Paragraphs>161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Tenorite</vt:lpstr>
      <vt:lpstr>Custom</vt:lpstr>
      <vt:lpstr>Progress Report Hind Alzaabi</vt:lpstr>
      <vt:lpstr>Literature review</vt:lpstr>
      <vt:lpstr>dataset</vt:lpstr>
      <vt:lpstr>Week 3</vt:lpstr>
      <vt:lpstr>Week 3</vt:lpstr>
      <vt:lpstr>Week 3</vt:lpstr>
      <vt:lpstr>baselines</vt:lpstr>
      <vt:lpstr>Robustness experiments</vt:lpstr>
      <vt:lpstr>Robustness experiments</vt:lpstr>
      <vt:lpstr>Both train and test preprocessed</vt:lpstr>
      <vt:lpstr>Missing channels</vt:lpstr>
      <vt:lpstr>scaling</vt:lpstr>
      <vt:lpstr>Missing durations</vt:lpstr>
      <vt:lpstr>Missing durations</vt:lpstr>
      <vt:lpstr>Missing frequencies</vt:lpstr>
      <vt:lpstr>Gaussian noise</vt:lpstr>
      <vt:lpstr>Robustness experiments</vt:lpstr>
      <vt:lpstr>train and test alone</vt:lpstr>
      <vt:lpstr>Missing channels</vt:lpstr>
      <vt:lpstr>scaling</vt:lpstr>
      <vt:lpstr>Missing durations</vt:lpstr>
      <vt:lpstr>Missing frequencies</vt:lpstr>
      <vt:lpstr>Added noise</vt:lpstr>
      <vt:lpstr>Robustness 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Hind Ibrahim Ali Almainon Alzaabi</dc:creator>
  <cp:lastModifiedBy>Hind Ibrahim Ali Almainon Alzaabi</cp:lastModifiedBy>
  <cp:revision>4</cp:revision>
  <dcterms:created xsi:type="dcterms:W3CDTF">2026-07-02T18:21:09Z</dcterms:created>
  <dcterms:modified xsi:type="dcterms:W3CDTF">2026-07-06T07:55:14Z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