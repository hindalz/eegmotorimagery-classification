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8"/>
  </p:notesMasterIdLst>
  <p:handoutMasterIdLst>
    <p:handoutMasterId r:id="rId79"/>
  </p:handoutMasterIdLst>
  <p:sldIdLst>
    <p:sldId id="309" r:id="rId5"/>
    <p:sldId id="298" r:id="rId6"/>
    <p:sldId id="296" r:id="rId7"/>
    <p:sldId id="292" r:id="rId8"/>
    <p:sldId id="297" r:id="rId9"/>
    <p:sldId id="293" r:id="rId10"/>
    <p:sldId id="308" r:id="rId11"/>
    <p:sldId id="311" r:id="rId12"/>
    <p:sldId id="310" r:id="rId13"/>
    <p:sldId id="306" r:id="rId14"/>
    <p:sldId id="301" r:id="rId15"/>
    <p:sldId id="302" r:id="rId16"/>
    <p:sldId id="303" r:id="rId17"/>
    <p:sldId id="307" r:id="rId18"/>
    <p:sldId id="304" r:id="rId19"/>
    <p:sldId id="305" r:id="rId20"/>
    <p:sldId id="313" r:id="rId21"/>
    <p:sldId id="315" r:id="rId22"/>
    <p:sldId id="323" r:id="rId23"/>
    <p:sldId id="317" r:id="rId24"/>
    <p:sldId id="318" r:id="rId25"/>
    <p:sldId id="319" r:id="rId26"/>
    <p:sldId id="321" r:id="rId27"/>
    <p:sldId id="324" r:id="rId28"/>
    <p:sldId id="325" r:id="rId29"/>
    <p:sldId id="328" r:id="rId30"/>
    <p:sldId id="327" r:id="rId31"/>
    <p:sldId id="347" r:id="rId32"/>
    <p:sldId id="330" r:id="rId33"/>
    <p:sldId id="333" r:id="rId34"/>
    <p:sldId id="337" r:id="rId35"/>
    <p:sldId id="334" r:id="rId36"/>
    <p:sldId id="335" r:id="rId37"/>
    <p:sldId id="336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50" r:id="rId48"/>
    <p:sldId id="351" r:id="rId49"/>
    <p:sldId id="353" r:id="rId50"/>
    <p:sldId id="354" r:id="rId51"/>
    <p:sldId id="355" r:id="rId52"/>
    <p:sldId id="356" r:id="rId53"/>
    <p:sldId id="357" r:id="rId54"/>
    <p:sldId id="358" r:id="rId55"/>
    <p:sldId id="359" r:id="rId56"/>
    <p:sldId id="360" r:id="rId57"/>
    <p:sldId id="361" r:id="rId58"/>
    <p:sldId id="362" r:id="rId59"/>
    <p:sldId id="363" r:id="rId60"/>
    <p:sldId id="364" r:id="rId61"/>
    <p:sldId id="365" r:id="rId62"/>
    <p:sldId id="366" r:id="rId63"/>
    <p:sldId id="367" r:id="rId64"/>
    <p:sldId id="368" r:id="rId65"/>
    <p:sldId id="369" r:id="rId66"/>
    <p:sldId id="370" r:id="rId67"/>
    <p:sldId id="371" r:id="rId68"/>
    <p:sldId id="372" r:id="rId69"/>
    <p:sldId id="373" r:id="rId70"/>
    <p:sldId id="374" r:id="rId71"/>
    <p:sldId id="376" r:id="rId72"/>
    <p:sldId id="383" r:id="rId73"/>
    <p:sldId id="381" r:id="rId74"/>
    <p:sldId id="378" r:id="rId75"/>
    <p:sldId id="382" r:id="rId76"/>
    <p:sldId id="385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A5A5A5"/>
    <a:srgbClr val="7596BF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3" autoAdjust="0"/>
    <p:restoredTop sz="95223" autoAdjust="0"/>
  </p:normalViewPr>
  <p:slideViewPr>
    <p:cSldViewPr snapToGrid="0">
      <p:cViewPr>
        <p:scale>
          <a:sx n="75" d="100"/>
          <a:sy n="75" d="100"/>
        </p:scale>
        <p:origin x="645" y="171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2T10:54:48.89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776 1,'-737'0,"699"0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2T10:54:51.11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710 1,'-7'0,"-11"0,-9 0,-11 0,-4 0,-6 0,0 0,-2 0,0 0,-2 0,3 0,-2 0,4 0,-2 0,4 0,-3 0,8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2T10:54:53.68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684 1,'-11'0,"-9"0,-6 0,-5 0,-8 0,-1 0,-6 0,1 0,-3 0,-1 0,0 0,1 0,-3 0,3 0,-1 0,3 0,9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2T10:54:56.13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538 1,'0'0,"-9"0,-10 0,-12 0,-7 0,-7 0,0 0,-5 0,3 0,-3 0,3 0,-1 0,2 0,9 0,11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3T08:12:27.29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3777 1,'0'0,"-63"0,-70 0,-85 0,-49 0,-49 0,0 0,-35 0,21 0,-21 0,21 0,-7 0,14 0,64 0,76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https://neuroanalyzer.org/tutorials/locs.html#d-preview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30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BC3F-7204-24B7-4D67-CFC81374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F963-6DAD-03AF-4201-D99EC007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971" y="2917798"/>
            <a:ext cx="3106057" cy="1022403"/>
          </a:xfrm>
        </p:spPr>
        <p:txBody>
          <a:bodyPr>
            <a:noAutofit/>
          </a:bodyPr>
          <a:lstStyle/>
          <a:p>
            <a:r>
              <a:rPr lang="en-US" sz="6600" dirty="0"/>
              <a:t>Week 3</a:t>
            </a:r>
            <a:endParaRPr lang="en-AE" sz="6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569E-53A2-ABD8-C05E-311CDFC6F8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01E57E9-D898-003F-53E1-707E9F1CFC64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63015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0AB43-AF63-CFED-75E6-E1C56460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B59E-2ED7-C9E6-5C89-55695744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3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55ED3-54C2-112A-B0AF-6EABA803E3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006393-748B-D9EF-52F1-AC828A46D327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D25C70-A671-E30B-5B17-067C87C5A789}"/>
              </a:ext>
            </a:extLst>
          </p:cNvPr>
          <p:cNvSpPr txBox="1">
            <a:spLocks/>
          </p:cNvSpPr>
          <p:nvPr/>
        </p:nvSpPr>
        <p:spPr>
          <a:xfrm>
            <a:off x="767378" y="1186717"/>
            <a:ext cx="8783021" cy="2512178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Dataset: </a:t>
            </a:r>
            <a:r>
              <a:rPr lang="en-AE" dirty="0"/>
              <a:t>BCI Competition 2008 – Graz data set A</a:t>
            </a:r>
            <a:endParaRPr lang="en-US" b="1" dirty="0"/>
          </a:p>
          <a:p>
            <a:pPr marL="569214" lvl="1" indent="-285750">
              <a:buFontTx/>
              <a:buChar char="-"/>
            </a:pPr>
            <a:r>
              <a:rPr lang="en-US" dirty="0"/>
              <a:t>9 subjects, 22 Channels, 1001 samples (250 Hz, 4 seconds of data)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576 trials (12 trials per class, 4 classes per run, 6 runs, 2 sessions)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Files separated into data, labels, and metadata for each subject 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Data saved per subject (trials x channels x samples)</a:t>
            </a:r>
          </a:p>
          <a:p>
            <a:pPr marL="566928" lvl="2" indent="0">
              <a:buNone/>
            </a:pPr>
            <a:endParaRPr lang="en-US" dirty="0"/>
          </a:p>
          <a:p>
            <a:pPr marL="566928" lvl="2" indent="0">
              <a:buNone/>
            </a:pPr>
            <a:endParaRPr lang="en-US" dirty="0"/>
          </a:p>
          <a:p>
            <a:pPr marL="569214" lvl="1" indent="-285750">
              <a:buFontTx/>
              <a:buChar char="-"/>
            </a:pPr>
            <a:endParaRPr lang="en-A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4FC7F-B5D5-56DE-5E1F-674A0353404B}"/>
              </a:ext>
            </a:extLst>
          </p:cNvPr>
          <p:cNvSpPr txBox="1">
            <a:spLocks/>
          </p:cNvSpPr>
          <p:nvPr/>
        </p:nvSpPr>
        <p:spPr>
          <a:xfrm>
            <a:off x="767377" y="3429000"/>
            <a:ext cx="8783021" cy="2734145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Preprocessing: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Used MOABB to load the data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Subject data for training/validation/testing merged together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6 subjects used for training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2 subjects used for validation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1 subject used for validation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Ideally will rerun but using K-fold, to avoid bias</a:t>
            </a:r>
          </a:p>
          <a:p>
            <a:pPr marL="852678" lvl="2" indent="-285750">
              <a:buFontTx/>
              <a:buChar char="-"/>
            </a:pPr>
            <a:endParaRPr lang="en-US" dirty="0"/>
          </a:p>
          <a:p>
            <a:pPr marL="566928" lvl="2" indent="0">
              <a:buNone/>
            </a:pPr>
            <a:endParaRPr lang="en-US" dirty="0"/>
          </a:p>
          <a:p>
            <a:pPr marL="569214" lvl="1" indent="-285750">
              <a:buFontTx/>
              <a:buChar char="-"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54806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639C1-3FA7-752E-8E84-EE6EA6AB7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4B36-BB1D-0F0D-E438-816C4A7E4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3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4C8CB-8324-24D7-537F-A77F3AD639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627260D-13B1-FAA7-5593-AA0AAA447AC3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1E995DD-8AB7-9243-3FCC-9B84F68FA94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8783021" cy="224228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Simple NN model: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Created using </a:t>
            </a:r>
            <a:r>
              <a:rPr lang="en-US" dirty="0" err="1"/>
              <a:t>Pytorch</a:t>
            </a:r>
            <a:endParaRPr lang="en-US" dirty="0"/>
          </a:p>
          <a:p>
            <a:pPr marL="569214" lvl="1" indent="-285750">
              <a:buFontTx/>
              <a:buChar char="-"/>
            </a:pPr>
            <a:r>
              <a:rPr lang="en-US" dirty="0"/>
              <a:t>3 Blocks of 2D convolutions and </a:t>
            </a:r>
            <a:r>
              <a:rPr lang="en-US" dirty="0" err="1"/>
              <a:t>MaxPooling</a:t>
            </a:r>
            <a:endParaRPr lang="en-US" dirty="0"/>
          </a:p>
          <a:p>
            <a:pPr marL="569214" lvl="1" indent="-285750">
              <a:buFontTx/>
              <a:buChar char="-"/>
            </a:pPr>
            <a:r>
              <a:rPr lang="en-US" dirty="0"/>
              <a:t>Worst performing accuracy, only slightly higher than chance (25%)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FC82315-ED4D-A66E-8A43-935BB957B62F}"/>
              </a:ext>
            </a:extLst>
          </p:cNvPr>
          <p:cNvSpPr txBox="1">
            <a:spLocks/>
          </p:cNvSpPr>
          <p:nvPr/>
        </p:nvSpPr>
        <p:spPr>
          <a:xfrm>
            <a:off x="767378" y="3657227"/>
            <a:ext cx="8783021" cy="163449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Imported </a:t>
            </a:r>
            <a:r>
              <a:rPr lang="en-US" b="1" dirty="0" err="1"/>
              <a:t>EEGNet</a:t>
            </a:r>
            <a:r>
              <a:rPr lang="en-US" b="1" dirty="0"/>
              <a:t> Model: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Imported from GitHub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Written in </a:t>
            </a:r>
            <a:r>
              <a:rPr lang="en-US" dirty="0" err="1"/>
              <a:t>Keras</a:t>
            </a:r>
            <a:endParaRPr lang="en-US" dirty="0"/>
          </a:p>
          <a:p>
            <a:pPr marL="569214" lvl="1" indent="-285750">
              <a:buFontTx/>
              <a:buChar char="-"/>
            </a:pPr>
            <a:r>
              <a:rPr lang="en-US" dirty="0"/>
              <a:t>Training took the longest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8E1640-58D0-7CC1-B05E-2644C7E8E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42" y="2832305"/>
            <a:ext cx="3305244" cy="300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16EAD8-B478-CEF6-895C-B2EEF9C8D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42" y="5488483"/>
            <a:ext cx="4862457" cy="36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32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6054-FEAE-17B6-532E-646E76B3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A221-08B9-8687-436D-0B98509E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3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811BB-5E92-B14B-D164-E75BFA7FBA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1BE7B03-E14E-4A90-D587-61A4DA696D22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2714F38-70DE-9CED-408F-7089E408F93F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8783021" cy="224228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Simple CSP + LDA model: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Mostly used for data exploration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Created using the MOABB library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“Best performance and fastest training”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NOTE: only model that used K-fold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524FE-02A2-1A68-1D85-95A3BD3ED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86" y="3690657"/>
            <a:ext cx="4862458" cy="1389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F19B3B-5C8A-2928-73F8-2F4F9C50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2"/>
          <a:stretch>
            <a:fillRect/>
          </a:stretch>
        </p:blipFill>
        <p:spPr>
          <a:xfrm>
            <a:off x="6447994" y="1828431"/>
            <a:ext cx="4465812" cy="401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8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F556-7142-E927-906C-5B467B2E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ACE9-1955-CC3F-368B-D1E1C938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3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57E53-AE3D-DFD9-82E7-059F6ABF11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CA9E9D5-9DDC-2A6E-A219-2DD16A83DBBD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4EDD765-E8CC-7049-2D6C-8BBC2335F6E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8783021" cy="17216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 err="1"/>
              <a:t>EEGNet</a:t>
            </a:r>
            <a:r>
              <a:rPr lang="en-US" b="1" dirty="0"/>
              <a:t> converted to </a:t>
            </a:r>
            <a:r>
              <a:rPr lang="en-US" b="1" dirty="0" err="1"/>
              <a:t>Pytorch</a:t>
            </a:r>
            <a:endParaRPr lang="en-US" b="1" dirty="0"/>
          </a:p>
          <a:p>
            <a:pPr marL="569214" lvl="1" indent="-285750">
              <a:buFontTx/>
              <a:buChar char="-"/>
            </a:pPr>
            <a:r>
              <a:rPr lang="en-US" dirty="0"/>
              <a:t>Similar accuracy to the </a:t>
            </a:r>
            <a:r>
              <a:rPr lang="en-US" dirty="0" err="1"/>
              <a:t>Keras</a:t>
            </a:r>
            <a:r>
              <a:rPr lang="en-US" dirty="0"/>
              <a:t> model</a:t>
            </a:r>
          </a:p>
          <a:p>
            <a:pPr marL="569214" lvl="1" indent="-285750">
              <a:buFontTx/>
              <a:buChar char="-"/>
            </a:pPr>
            <a:r>
              <a:rPr lang="en-US" dirty="0"/>
              <a:t>However, significantly faster</a:t>
            </a:r>
          </a:p>
          <a:p>
            <a:pPr marL="569214" lvl="1" indent="-285750">
              <a:buFontTx/>
              <a:buChar char="-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E70FA-85D9-F009-8499-6A3919B1E9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0"/>
          <a:stretch>
            <a:fillRect/>
          </a:stretch>
        </p:blipFill>
        <p:spPr>
          <a:xfrm>
            <a:off x="5396696" y="2047550"/>
            <a:ext cx="5438815" cy="423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3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2262-F6AA-CCF1-8730-F4F8B90E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6ABD-D57E-87AC-2545-FD5B328D4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3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91A10-1412-E1F7-9C3D-2989F11E0BA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0CC56C9-2218-106B-2770-98BFCFA5BAA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6F0921B-EC62-8EB7-7B95-3C50148DE6A8}"/>
              </a:ext>
            </a:extLst>
          </p:cNvPr>
          <p:cNvSpPr txBox="1">
            <a:spLocks/>
          </p:cNvSpPr>
          <p:nvPr/>
        </p:nvSpPr>
        <p:spPr>
          <a:xfrm>
            <a:off x="767378" y="1186717"/>
            <a:ext cx="8783021" cy="4382273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Challenges:</a:t>
            </a:r>
          </a:p>
          <a:p>
            <a:pPr marL="569214" lvl="1" indent="-285750">
              <a:buFontTx/>
              <a:buChar char="-"/>
            </a:pPr>
            <a:r>
              <a:rPr lang="en-US" b="1" dirty="0"/>
              <a:t>Understanding and manipulating the data</a:t>
            </a:r>
          </a:p>
          <a:p>
            <a:pPr marL="852678" lvl="2" indent="-285750">
              <a:buFontTx/>
              <a:buChar char="-"/>
            </a:pPr>
            <a:r>
              <a:rPr lang="en-US" dirty="0"/>
              <a:t>Used the MOABB website, guides, and tutorials</a:t>
            </a:r>
          </a:p>
          <a:p>
            <a:pPr marL="569214" lvl="1" indent="-285750">
              <a:buFontTx/>
              <a:buChar char="-"/>
            </a:pPr>
            <a:r>
              <a:rPr lang="en-US" b="1" dirty="0"/>
              <a:t>Significant difference in accuracy when converting </a:t>
            </a:r>
            <a:r>
              <a:rPr lang="en-US" b="1" dirty="0" err="1"/>
              <a:t>Keras</a:t>
            </a:r>
            <a:r>
              <a:rPr lang="en-US" b="1" dirty="0"/>
              <a:t> to </a:t>
            </a:r>
            <a:r>
              <a:rPr lang="en-US" b="1" dirty="0" err="1"/>
              <a:t>Pytorch</a:t>
            </a:r>
            <a:r>
              <a:rPr lang="en-US" b="1" dirty="0"/>
              <a:t>:</a:t>
            </a:r>
          </a:p>
          <a:p>
            <a:pPr marL="852678" lvl="2" indent="-285750">
              <a:buFontTx/>
              <a:buChar char="-"/>
            </a:pPr>
            <a:r>
              <a:rPr lang="en-US" dirty="0"/>
              <a:t>Comparing the default values showed difference in multiple functions</a:t>
            </a:r>
          </a:p>
          <a:p>
            <a:pPr marL="852678" lvl="2" indent="-285750">
              <a:buFontTx/>
              <a:buChar char="-"/>
            </a:pPr>
            <a:r>
              <a:rPr lang="en-US" dirty="0"/>
              <a:t>Difference in layer order requirements caused multiple issues</a:t>
            </a:r>
          </a:p>
          <a:p>
            <a:pPr marL="569214" lvl="1" indent="-285750">
              <a:buFontTx/>
              <a:buChar char="-"/>
            </a:pPr>
            <a:r>
              <a:rPr lang="en-US" b="1" dirty="0"/>
              <a:t>Running the original </a:t>
            </a:r>
            <a:r>
              <a:rPr lang="en-US" b="1" dirty="0" err="1"/>
              <a:t>EEGNet</a:t>
            </a:r>
            <a:r>
              <a:rPr lang="en-US" b="1" dirty="0"/>
              <a:t> model needed a new environment and managing the requirements </a:t>
            </a:r>
          </a:p>
          <a:p>
            <a:pPr marL="852678" lvl="2" indent="-285750">
              <a:buFontTx/>
              <a:buChar char="-"/>
            </a:pPr>
            <a:endParaRPr lang="en-US" dirty="0"/>
          </a:p>
          <a:p>
            <a:pPr marL="566928" lvl="2" indent="0">
              <a:buNone/>
            </a:pPr>
            <a:endParaRPr lang="en-US" dirty="0"/>
          </a:p>
          <a:p>
            <a:pPr marL="569214" lvl="1" indent="-285750">
              <a:buFontTx/>
              <a:buChar char="-"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4992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4565-22CD-E5E5-1821-421F6A99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FA41-5BB7-D5BD-AE6C-3805FC0E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971" y="2917798"/>
            <a:ext cx="3106057" cy="1022403"/>
          </a:xfrm>
        </p:spPr>
        <p:txBody>
          <a:bodyPr>
            <a:noAutofit/>
          </a:bodyPr>
          <a:lstStyle/>
          <a:p>
            <a:r>
              <a:rPr lang="en-US" sz="6600" dirty="0"/>
              <a:t>Week 4</a:t>
            </a:r>
            <a:endParaRPr lang="en-AE" sz="6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5256B-5CF2-340A-D25D-9C2C68115FD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EAA738F-12E6-14B9-AB43-748F46E651C7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272022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6958-7BBE-84C4-25CF-8D4AE9D6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AFE76-F60F-1408-B2EC-F8F4066DE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4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BCA22-FD88-09AF-AC52-87D35DDD61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3230A7F-7CBA-5BA9-4AF3-3FB0CFB9D1A0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8F9F41-E8B8-ED0E-3CB4-93503F80891E}"/>
              </a:ext>
            </a:extLst>
          </p:cNvPr>
          <p:cNvSpPr txBox="1">
            <a:spLocks/>
          </p:cNvSpPr>
          <p:nvPr/>
        </p:nvSpPr>
        <p:spPr>
          <a:xfrm>
            <a:off x="767378" y="1186716"/>
            <a:ext cx="8783021" cy="4193495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Baseline: </a:t>
            </a:r>
            <a:r>
              <a:rPr lang="en-US" dirty="0"/>
              <a:t>CSP + LDA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70.5% accuracy</a:t>
            </a:r>
          </a:p>
          <a:p>
            <a:pPr marL="0" indent="0">
              <a:buNone/>
            </a:pPr>
            <a:r>
              <a:rPr lang="en-US" b="1" dirty="0"/>
              <a:t>Experiments: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Preprocessing on both train and test:</a:t>
            </a:r>
          </a:p>
          <a:p>
            <a:pPr marL="569214" lvl="1" indent="-285750">
              <a:buFont typeface="Courier New" panose="02070309020205020404" pitchFamily="49" charset="0"/>
              <a:buChar char="o"/>
            </a:pPr>
            <a:r>
              <a:rPr lang="en-US" dirty="0"/>
              <a:t> Multiple values tested, tests averaged</a:t>
            </a:r>
          </a:p>
        </p:txBody>
      </p:sp>
    </p:spTree>
    <p:extLst>
      <p:ext uri="{BB962C8B-B14F-4D97-AF65-F5344CB8AC3E}">
        <p14:creationId xmlns:p14="http://schemas.microsoft.com/office/powerpoint/2010/main" val="383902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6849A-8434-39EF-3A8A-E26AFCAE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B38F-A70E-2815-AF7A-9C704016E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4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B88BC-F661-C9B8-FA9D-E080D75A8B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44CD7CE-5CC3-009A-D2CD-E92E05F490D3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2982B3B-5461-3591-6E37-94C918711DD1}"/>
              </a:ext>
            </a:extLst>
          </p:cNvPr>
          <p:cNvSpPr txBox="1">
            <a:spLocks/>
          </p:cNvSpPr>
          <p:nvPr/>
        </p:nvSpPr>
        <p:spPr>
          <a:xfrm>
            <a:off x="767378" y="1210806"/>
            <a:ext cx="4677728" cy="221819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Robustness to missing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missing channels selected at random, repeated 10 times and averaged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accuracy: 68.5%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22A534-0B71-1754-47D4-6428711E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178" y="2561034"/>
            <a:ext cx="4468570" cy="397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13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D3A51-C259-C1AD-7EAC-10539D565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66DBB-6491-50F6-E6C2-88EE12A8980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F88D9-4CD5-EAA0-43C6-E0F927E2B3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8AA4DF-5493-BD6F-62B6-D0DF3866B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2" y="1993320"/>
            <a:ext cx="11214674" cy="29823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FE4D682-C5B9-7C98-9EB7-F9A3BB7F1BF8}"/>
                  </a:ext>
                </a:extLst>
              </p14:cNvPr>
              <p14:cNvContentPartPr/>
              <p14:nvPr/>
            </p14:nvContentPartPr>
            <p14:xfrm>
              <a:off x="11079158" y="4837425"/>
              <a:ext cx="279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FE4D682-C5B9-7C98-9EB7-F9A3BB7F1B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25518" y="4729785"/>
                <a:ext cx="387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D5213FE-B113-0C9E-2CD8-BC8C7CDCF668}"/>
                  </a:ext>
                </a:extLst>
              </p14:cNvPr>
              <p14:cNvContentPartPr/>
              <p14:nvPr/>
            </p14:nvContentPartPr>
            <p14:xfrm>
              <a:off x="10645718" y="4837425"/>
              <a:ext cx="25560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D5213FE-B113-0C9E-2CD8-BC8C7CDCF6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92078" y="4729785"/>
                <a:ext cx="363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FF5CA96-FBF5-5A4D-B725-18B3F1428DD8}"/>
                  </a:ext>
                </a:extLst>
              </p14:cNvPr>
              <p14:cNvContentPartPr/>
              <p14:nvPr/>
            </p14:nvContentPartPr>
            <p14:xfrm>
              <a:off x="9659678" y="4837425"/>
              <a:ext cx="24624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FF5CA96-FBF5-5A4D-B725-18B3F1428D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06038" y="4729785"/>
                <a:ext cx="353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DC34ED3-05CE-99A0-E2B5-F1222AADDBCA}"/>
                  </a:ext>
                </a:extLst>
              </p14:cNvPr>
              <p14:cNvContentPartPr/>
              <p14:nvPr/>
            </p14:nvContentPartPr>
            <p14:xfrm>
              <a:off x="8331278" y="4837425"/>
              <a:ext cx="19404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DC34ED3-05CE-99A0-E2B5-F1222AADDB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77278" y="4729785"/>
                <a:ext cx="3016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4D23B73-0196-B6EB-27A0-EB10B3833D58}"/>
              </a:ext>
            </a:extLst>
          </p:cNvPr>
          <p:cNvSpPr txBox="1"/>
          <p:nvPr/>
        </p:nvSpPr>
        <p:spPr>
          <a:xfrm>
            <a:off x="2673394" y="5553619"/>
            <a:ext cx="7598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Fronto-Central: </a:t>
            </a:r>
            <a:r>
              <a:rPr lang="en-US" dirty="0"/>
              <a:t>Motor planning , cognitive control, and executive function</a:t>
            </a:r>
            <a:endParaRPr lang="en-AE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2887E5-3808-EDEC-1526-35CB75514FB6}"/>
                  </a:ext>
                </a:extLst>
              </p14:cNvPr>
              <p14:cNvContentPartPr/>
              <p14:nvPr/>
            </p14:nvContentPartPr>
            <p14:xfrm>
              <a:off x="2832095" y="5738285"/>
              <a:ext cx="1362345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2887E5-3808-EDEC-1526-35CB75514FB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78005" y="5630285"/>
                <a:ext cx="1470164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656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A2360-4C59-F1A6-8A7A-1498D3B3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91F5-0306-AA56-F40C-5BCD341D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4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23754-B3B7-2BCF-B4E1-40FA5EBC9B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A413123-AF9D-C4F7-6298-A7D0CF7E3C47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B1E29EF-150E-6F9A-F2A6-E2FF9FC336D0}"/>
              </a:ext>
            </a:extLst>
          </p:cNvPr>
          <p:cNvSpPr txBox="1">
            <a:spLocks/>
          </p:cNvSpPr>
          <p:nvPr/>
        </p:nvSpPr>
        <p:spPr>
          <a:xfrm>
            <a:off x="596295" y="1109041"/>
            <a:ext cx="7491720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Robustness to scaling: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Scaled on 4 Random channels, twice. Results were averaged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Scaled on 5 factors = </a:t>
            </a:r>
            <a:r>
              <a:rPr lang="en-AE" dirty="0"/>
              <a:t>[0.5, 1, 1.5, 2, 2.5, 3, 4, 5]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dirty="0"/>
              <a:t>70.5%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DB0D9-E2B1-773D-9B44-0D92F0048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6"/>
          <a:stretch>
            <a:fillRect/>
          </a:stretch>
        </p:blipFill>
        <p:spPr>
          <a:xfrm>
            <a:off x="4005662" y="3429000"/>
            <a:ext cx="4371625" cy="317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22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02A44-6BEE-FB7B-C700-0C8B0A5A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2E65-0E9B-4208-66DD-74DD4434A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4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F9127-D26B-D1F7-6C0B-405FB7CC6B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54B1DEF-9F62-B90A-7C0F-AA81681C85F4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94BC4A3-F522-AA35-EF6B-0D9EA39B94C1}"/>
              </a:ext>
            </a:extLst>
          </p:cNvPr>
          <p:cNvSpPr txBox="1">
            <a:spLocks/>
          </p:cNvSpPr>
          <p:nvPr/>
        </p:nvSpPr>
        <p:spPr>
          <a:xfrm>
            <a:off x="596295" y="1109041"/>
            <a:ext cx="7491720" cy="2065155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Robustness to noise: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noise to all channels, 5 times. Results were averaged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AE" dirty="0" err="1"/>
              <a:t>evels</a:t>
            </a:r>
            <a:r>
              <a:rPr lang="en-AE" dirty="0"/>
              <a:t>= 0.02-0.5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dirty="0"/>
              <a:t>62.7% accuracy</a:t>
            </a:r>
          </a:p>
          <a:p>
            <a:pPr marL="0" indent="0">
              <a:buNone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086AA4-9E86-CCD5-7A0D-36EEF3DD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756" y="3174196"/>
            <a:ext cx="4370488" cy="322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90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26F4C-AC5F-2F39-DB3B-9647395F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66049-62DE-A76A-376E-7EE9971C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4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0E412-7A31-2E07-7772-48CCD83DDC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DE9B13C-C361-51A3-0800-D87B8949CE1C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746D908-A60C-42C6-31C9-3CAAE89C94C8}"/>
              </a:ext>
            </a:extLst>
          </p:cNvPr>
          <p:cNvSpPr txBox="1">
            <a:spLocks/>
          </p:cNvSpPr>
          <p:nvPr/>
        </p:nvSpPr>
        <p:spPr>
          <a:xfrm>
            <a:off x="596295" y="1109041"/>
            <a:ext cx="8771880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Robustness to missing durations: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durations from a random channel, repeated twice. Results averaged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dirty="0"/>
              <a:t>durations=[25, 50, 100, 150, 200]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dirty="0"/>
              <a:t>69.9% accuracy</a:t>
            </a:r>
          </a:p>
          <a:p>
            <a:pPr marL="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413082-2D42-D76E-A3AF-53DDE8B22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726" y="3133786"/>
            <a:ext cx="4402383" cy="316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3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953BE-E151-3DFD-FD09-E937D5D9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58F5-E0E0-78D7-68CD-9F81C9BC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4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49065-519D-5A5B-F856-D50DBE5AEC9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A14F83A-D6D5-29AA-7207-9115BCC951A1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7F6D42-B036-721E-D6B9-99EC629D029B}"/>
              </a:ext>
            </a:extLst>
          </p:cNvPr>
          <p:cNvSpPr txBox="1">
            <a:spLocks/>
          </p:cNvSpPr>
          <p:nvPr/>
        </p:nvSpPr>
        <p:spPr>
          <a:xfrm>
            <a:off x="596295" y="1109041"/>
            <a:ext cx="8771880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Robustness to missing durations: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200 durations from FC3 and FC4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3076512-B843-A1E8-1ACF-7933BD96C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808" y="2672407"/>
            <a:ext cx="5447361" cy="39194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209C72-6A71-D11E-EF38-CE4962FF9F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82" t="5741" r="1597" b="3174"/>
          <a:stretch>
            <a:fillRect/>
          </a:stretch>
        </p:blipFill>
        <p:spPr>
          <a:xfrm>
            <a:off x="4041062" y="1946788"/>
            <a:ext cx="4306525" cy="88213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FA72C8-F10D-FB8F-1DA5-8B24279E3B79}"/>
              </a:ext>
            </a:extLst>
          </p:cNvPr>
          <p:cNvCxnSpPr>
            <a:cxnSpLocks/>
          </p:cNvCxnSpPr>
          <p:nvPr/>
        </p:nvCxnSpPr>
        <p:spPr>
          <a:xfrm>
            <a:off x="5361302" y="1946788"/>
            <a:ext cx="0" cy="4313518"/>
          </a:xfrm>
          <a:prstGeom prst="line">
            <a:avLst/>
          </a:prstGeom>
          <a:ln>
            <a:solidFill>
              <a:srgbClr val="4285F4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3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FC0B-042B-D5D3-F937-1728D704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2A620-4DE1-5692-8E05-91F9D0A1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4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AFB4B-195A-04C6-0EDD-DE5E5E9A2D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81A2892-3954-ADD6-AFC2-6292E3B3E381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E853572-C6CD-226A-5ED2-5ED649862B0B}"/>
              </a:ext>
            </a:extLst>
          </p:cNvPr>
          <p:cNvSpPr txBox="1">
            <a:spLocks/>
          </p:cNvSpPr>
          <p:nvPr/>
        </p:nvSpPr>
        <p:spPr>
          <a:xfrm>
            <a:off x="596294" y="1109041"/>
            <a:ext cx="10122833" cy="210181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Robustness to missing frequencies: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different frequencies from bandwidths 4-8, repeated thrice. Results averaged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</a:t>
            </a:r>
            <a:r>
              <a:rPr lang="en-AE" dirty="0" err="1"/>
              <a:t>andwidths</a:t>
            </a:r>
            <a:r>
              <a:rPr lang="en-AE" dirty="0"/>
              <a:t>=[4,6,8]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dirty="0"/>
              <a:t>68.7% accuracy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CEF6C7-6605-2DDC-246A-8DA6BCFB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324" y="3339740"/>
            <a:ext cx="4073692" cy="2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17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9B7C-DB81-A85B-813D-DE17E1A41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873E-D07E-2833-2F41-916BED50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4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3E7F9-31E7-F765-6AAE-386BBB9FC8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2429AF0-579A-06E1-9E19-2EE4899178E0}"/>
              </a:ext>
            </a:extLst>
          </p:cNvPr>
          <p:cNvSpPr txBox="1">
            <a:spLocks/>
          </p:cNvSpPr>
          <p:nvPr/>
        </p:nvSpPr>
        <p:spPr>
          <a:xfrm>
            <a:off x="596294" y="1109041"/>
            <a:ext cx="10122833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Summary</a:t>
            </a:r>
            <a:endParaRPr lang="en-AE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109CD7-0B3E-F9FC-84BE-C2CE75117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104969"/>
              </p:ext>
            </p:extLst>
          </p:nvPr>
        </p:nvGraphicFramePr>
        <p:xfrm>
          <a:off x="910466" y="2399180"/>
          <a:ext cx="10062332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37476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1437476">
                  <a:extLst>
                    <a:ext uri="{9D8B030D-6E8A-4147-A177-3AD203B41FA5}">
                      <a16:colId xmlns:a16="http://schemas.microsoft.com/office/drawing/2014/main" val="3059612261"/>
                    </a:ext>
                  </a:extLst>
                </a:gridCol>
                <a:gridCol w="1437476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1437476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1437476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1437476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  <a:gridCol w="1437476">
                  <a:extLst>
                    <a:ext uri="{9D8B030D-6E8A-4147-A177-3AD203B41FA5}">
                      <a16:colId xmlns:a16="http://schemas.microsoft.com/office/drawing/2014/main" val="1161212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Baseline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Scaling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durations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frequencies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data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70.5%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70.5%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69.9%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68.7%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68.5%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62.7%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26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AA23-07BE-E0A0-077F-3DFBAD91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3015-F4A9-FF82-9C85-62D08BD3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971" y="2917798"/>
            <a:ext cx="3106057" cy="1022403"/>
          </a:xfrm>
        </p:spPr>
        <p:txBody>
          <a:bodyPr>
            <a:noAutofit/>
          </a:bodyPr>
          <a:lstStyle/>
          <a:p>
            <a:r>
              <a:rPr lang="en-US" sz="6600" dirty="0"/>
              <a:t>Week 5</a:t>
            </a:r>
            <a:endParaRPr lang="en-AE" sz="6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144C8-1EAE-86B0-2823-C04A182007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2C20799-EE2A-5AF7-DF23-7248D579BFD9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38156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097A-81DC-9B12-3A20-D24A4D9B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6B6B-7FDE-63AD-87DB-F5F0760FF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5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85473-78EE-BEAE-58C9-2B874C39D0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5446B5E-DC49-EADF-1169-EB2F78E82B3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723329F-497A-42CF-A15C-380B36DD6CBE}"/>
              </a:ext>
            </a:extLst>
          </p:cNvPr>
          <p:cNvSpPr txBox="1">
            <a:spLocks/>
          </p:cNvSpPr>
          <p:nvPr/>
        </p:nvSpPr>
        <p:spPr>
          <a:xfrm>
            <a:off x="767378" y="1210806"/>
            <a:ext cx="4677728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Missing data: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71B50-B7F9-5361-5F22-8AE7FCB97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17" y="4648053"/>
            <a:ext cx="7695436" cy="2046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BEC20C-3F3F-D04D-A141-7DEDAB540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613" y="1976394"/>
            <a:ext cx="7786765" cy="2070745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65DFDE7-4CC2-BABE-B1A3-1A2C522E362F}"/>
              </a:ext>
            </a:extLst>
          </p:cNvPr>
          <p:cNvSpPr txBox="1">
            <a:spLocks/>
          </p:cNvSpPr>
          <p:nvPr/>
        </p:nvSpPr>
        <p:spPr>
          <a:xfrm>
            <a:off x="1008268" y="1682077"/>
            <a:ext cx="4677728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preprocessed: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9ECA99A-32CA-DE88-69B8-080B45090F30}"/>
              </a:ext>
            </a:extLst>
          </p:cNvPr>
          <p:cNvSpPr txBox="1">
            <a:spLocks/>
          </p:cNvSpPr>
          <p:nvPr/>
        </p:nvSpPr>
        <p:spPr>
          <a:xfrm>
            <a:off x="991081" y="4130039"/>
            <a:ext cx="4677728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only preprocessed:</a:t>
            </a:r>
          </a:p>
        </p:txBody>
      </p:sp>
    </p:spTree>
    <p:extLst>
      <p:ext uri="{BB962C8B-B14F-4D97-AF65-F5344CB8AC3E}">
        <p14:creationId xmlns:p14="http://schemas.microsoft.com/office/powerpoint/2010/main" val="388609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5016-A88C-AFBD-2950-DE86027E5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E681-A4CC-3CFB-7E49-03490043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5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1882D-A289-A940-9369-0F55810612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E7EB72F-F993-DB29-7CDC-C439CB39E152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2A46781-059F-0D40-1353-77AC9382EC5D}"/>
              </a:ext>
            </a:extLst>
          </p:cNvPr>
          <p:cNvSpPr txBox="1">
            <a:spLocks/>
          </p:cNvSpPr>
          <p:nvPr/>
        </p:nvSpPr>
        <p:spPr>
          <a:xfrm>
            <a:off x="767378" y="1210806"/>
            <a:ext cx="4677728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Missing data: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0E0FCE7-E08D-0392-5A5F-85B6FA3E495B}"/>
              </a:ext>
            </a:extLst>
          </p:cNvPr>
          <p:cNvSpPr txBox="1">
            <a:spLocks/>
          </p:cNvSpPr>
          <p:nvPr/>
        </p:nvSpPr>
        <p:spPr>
          <a:xfrm>
            <a:off x="1008268" y="1682077"/>
            <a:ext cx="4677728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only preprocessed: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4FAFFF-19EC-D864-1A4B-F4E600E48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666" y="2117191"/>
            <a:ext cx="8156841" cy="218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40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7517-B2F5-7736-4E21-3E0E9A58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5079-7D55-2B4D-7CB3-D7E0EE3C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5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5D5B1-72E0-1E45-3D4C-329301287D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1A1A1F-B675-609A-7130-6A27E58E0517}"/>
              </a:ext>
            </a:extLst>
          </p:cNvPr>
          <p:cNvSpPr txBox="1">
            <a:spLocks/>
          </p:cNvSpPr>
          <p:nvPr/>
        </p:nvSpPr>
        <p:spPr>
          <a:xfrm>
            <a:off x="767379" y="1186718"/>
            <a:ext cx="2766336" cy="51229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D37322F-B450-C938-D7E0-1637AB6EAFEE}"/>
              </a:ext>
            </a:extLst>
          </p:cNvPr>
          <p:cNvSpPr txBox="1">
            <a:spLocks/>
          </p:cNvSpPr>
          <p:nvPr/>
        </p:nvSpPr>
        <p:spPr>
          <a:xfrm>
            <a:off x="767379" y="1186718"/>
            <a:ext cx="3291380" cy="661499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Scaling: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0EBA5-4BF2-7D58-7FDE-CFF73A20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6"/>
          <a:stretch>
            <a:fillRect/>
          </a:stretch>
        </p:blipFill>
        <p:spPr>
          <a:xfrm>
            <a:off x="944721" y="2561460"/>
            <a:ext cx="3197452" cy="23233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6FF4DF-F6E3-6468-8D14-7C0B3A1C3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516" y="2529383"/>
            <a:ext cx="3197452" cy="23554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D261C6-4406-C3B7-D8C7-5B56A857B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485" y="2529383"/>
            <a:ext cx="3244645" cy="2395957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D04D13-6084-C017-06B2-56882E058A5A}"/>
              </a:ext>
            </a:extLst>
          </p:cNvPr>
          <p:cNvSpPr txBox="1">
            <a:spLocks/>
          </p:cNvSpPr>
          <p:nvPr/>
        </p:nvSpPr>
        <p:spPr>
          <a:xfrm>
            <a:off x="1454694" y="2094269"/>
            <a:ext cx="2149812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C0B5335-8BE8-F73D-DC32-1A475DC408EA}"/>
              </a:ext>
            </a:extLst>
          </p:cNvPr>
          <p:cNvSpPr txBox="1">
            <a:spLocks/>
          </p:cNvSpPr>
          <p:nvPr/>
        </p:nvSpPr>
        <p:spPr>
          <a:xfrm>
            <a:off x="4907849" y="2094269"/>
            <a:ext cx="2283465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preprocessed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148A61D-F93C-8FC9-08B2-17718CBFF993}"/>
              </a:ext>
            </a:extLst>
          </p:cNvPr>
          <p:cNvSpPr txBox="1">
            <a:spLocks/>
          </p:cNvSpPr>
          <p:nvPr/>
        </p:nvSpPr>
        <p:spPr>
          <a:xfrm>
            <a:off x="8494658" y="2053730"/>
            <a:ext cx="2283465" cy="43511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preprocessed</a:t>
            </a:r>
          </a:p>
        </p:txBody>
      </p:sp>
    </p:spTree>
    <p:extLst>
      <p:ext uri="{BB962C8B-B14F-4D97-AF65-F5344CB8AC3E}">
        <p14:creationId xmlns:p14="http://schemas.microsoft.com/office/powerpoint/2010/main" val="3097706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9D2C-3376-2571-43C1-1263308A6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175C-F493-8E90-7C74-93E63143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5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8A464-D63E-7442-17D7-D8A9190D6D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E615D0D-F3EE-2D21-19B9-B5C0C57AC21D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72DCED5-0D81-7575-4384-18C750BF5561}"/>
              </a:ext>
            </a:extLst>
          </p:cNvPr>
          <p:cNvSpPr txBox="1">
            <a:spLocks/>
          </p:cNvSpPr>
          <p:nvPr/>
        </p:nvSpPr>
        <p:spPr>
          <a:xfrm>
            <a:off x="767378" y="1251804"/>
            <a:ext cx="2630652" cy="49903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Noise:</a:t>
            </a: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6E75CD-C4E8-54F3-03DE-AFD6751B2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55" y="2813992"/>
            <a:ext cx="3369228" cy="248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EECD05-ABF4-2C2B-0476-D467A577F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54"/>
          <a:stretch>
            <a:fillRect/>
          </a:stretch>
        </p:blipFill>
        <p:spPr>
          <a:xfrm>
            <a:off x="4464477" y="2926080"/>
            <a:ext cx="3369228" cy="2401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9379EF-4945-7958-E9B9-85370DAC8B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1" t="2189" b="1"/>
          <a:stretch>
            <a:fillRect/>
          </a:stretch>
        </p:blipFill>
        <p:spPr>
          <a:xfrm>
            <a:off x="8017222" y="2926080"/>
            <a:ext cx="3251620" cy="237153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75EA1B-AD73-8AE8-8858-2FCC0C12032C}"/>
              </a:ext>
            </a:extLst>
          </p:cNvPr>
          <p:cNvSpPr txBox="1">
            <a:spLocks/>
          </p:cNvSpPr>
          <p:nvPr/>
        </p:nvSpPr>
        <p:spPr>
          <a:xfrm>
            <a:off x="1690950" y="2406704"/>
            <a:ext cx="2149812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7732516-04EE-02BB-5FA2-4919260E4F94}"/>
              </a:ext>
            </a:extLst>
          </p:cNvPr>
          <p:cNvSpPr txBox="1">
            <a:spLocks/>
          </p:cNvSpPr>
          <p:nvPr/>
        </p:nvSpPr>
        <p:spPr>
          <a:xfrm>
            <a:off x="4946408" y="2402845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preprocessed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E0260A3-6880-498F-E7A1-B34A7C8823A2}"/>
              </a:ext>
            </a:extLst>
          </p:cNvPr>
          <p:cNvSpPr txBox="1">
            <a:spLocks/>
          </p:cNvSpPr>
          <p:nvPr/>
        </p:nvSpPr>
        <p:spPr>
          <a:xfrm>
            <a:off x="8662017" y="2402844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preprocessed</a:t>
            </a:r>
          </a:p>
        </p:txBody>
      </p:sp>
    </p:spTree>
    <p:extLst>
      <p:ext uri="{BB962C8B-B14F-4D97-AF65-F5344CB8AC3E}">
        <p14:creationId xmlns:p14="http://schemas.microsoft.com/office/powerpoint/2010/main" val="3966155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BD894-C9ED-56BE-C921-4A87059D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AB92-E67B-FB3E-B4F8-A0FCD113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5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56C9C-C7F9-B3FF-EF19-5C3243D114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6AA5A97-B776-CB93-10B9-CC0FA45770D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7D6AD1B-7B49-D9C9-A4E4-C231DCD12899}"/>
              </a:ext>
            </a:extLst>
          </p:cNvPr>
          <p:cNvSpPr txBox="1">
            <a:spLocks/>
          </p:cNvSpPr>
          <p:nvPr/>
        </p:nvSpPr>
        <p:spPr>
          <a:xfrm>
            <a:off x="811598" y="1243950"/>
            <a:ext cx="3781026" cy="353999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Missing durations:</a:t>
            </a:r>
          </a:p>
          <a:p>
            <a:pPr marL="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0587-A1BE-63D8-8243-7789AA3F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10" y="2652086"/>
            <a:ext cx="3586420" cy="25787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1868B6-B518-1673-F5BC-C82932BC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630" y="2734870"/>
            <a:ext cx="3431908" cy="2495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E8D12E-97F0-EC53-E4D2-6851CA223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015" y="2885680"/>
            <a:ext cx="3270991" cy="2373184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1566D30-5E42-B961-0589-0C59B2AE2CDC}"/>
              </a:ext>
            </a:extLst>
          </p:cNvPr>
          <p:cNvSpPr txBox="1">
            <a:spLocks/>
          </p:cNvSpPr>
          <p:nvPr/>
        </p:nvSpPr>
        <p:spPr>
          <a:xfrm>
            <a:off x="1600102" y="2422349"/>
            <a:ext cx="2149812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CAE8D41B-8470-FFC2-92B3-6D99CB0B2D5B}"/>
              </a:ext>
            </a:extLst>
          </p:cNvPr>
          <p:cNvSpPr txBox="1">
            <a:spLocks/>
          </p:cNvSpPr>
          <p:nvPr/>
        </p:nvSpPr>
        <p:spPr>
          <a:xfrm>
            <a:off x="4855560" y="2418490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preprocessed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825FBE35-7E29-7CAD-0FF6-454F00B8EC68}"/>
              </a:ext>
            </a:extLst>
          </p:cNvPr>
          <p:cNvSpPr txBox="1">
            <a:spLocks/>
          </p:cNvSpPr>
          <p:nvPr/>
        </p:nvSpPr>
        <p:spPr>
          <a:xfrm>
            <a:off x="8571169" y="2418489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preprocessed</a:t>
            </a:r>
          </a:p>
        </p:txBody>
      </p:sp>
    </p:spTree>
    <p:extLst>
      <p:ext uri="{BB962C8B-B14F-4D97-AF65-F5344CB8AC3E}">
        <p14:creationId xmlns:p14="http://schemas.microsoft.com/office/powerpoint/2010/main" val="3696095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30E0-974C-9E70-166C-2851C8CB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6D8A-3046-2603-71D6-E6BA4A17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5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536E7-FA60-8CBD-7C1B-50AE86B801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C1E60CA-37A4-2BF2-C4E4-E5862D489730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ACE5EE1-A9FA-7546-7C5D-B37F1AB6BAFD}"/>
              </a:ext>
            </a:extLst>
          </p:cNvPr>
          <p:cNvSpPr txBox="1">
            <a:spLocks/>
          </p:cNvSpPr>
          <p:nvPr/>
        </p:nvSpPr>
        <p:spPr>
          <a:xfrm>
            <a:off x="681633" y="1253000"/>
            <a:ext cx="4117291" cy="57483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Missing frequencies:</a:t>
            </a:r>
            <a:endParaRPr lang="en-AE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8C1C48-D4B5-AB99-D7D2-357EF119BA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26"/>
          <a:stretch>
            <a:fillRect/>
          </a:stretch>
        </p:blipFill>
        <p:spPr>
          <a:xfrm>
            <a:off x="767377" y="2819892"/>
            <a:ext cx="3279579" cy="2305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A3ED26-E62B-DC49-A8DC-4B9D5CDF9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812" y="2743035"/>
            <a:ext cx="3361122" cy="2483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B88C26-B62F-4866-D292-951180C6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948" y="2743035"/>
            <a:ext cx="3361122" cy="2513432"/>
          </a:xfrm>
          <a:prstGeom prst="rect">
            <a:avLst/>
          </a:prstGeom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187067D-C911-C70E-B2B7-03D8AACA078F}"/>
              </a:ext>
            </a:extLst>
          </p:cNvPr>
          <p:cNvSpPr txBox="1">
            <a:spLocks/>
          </p:cNvSpPr>
          <p:nvPr/>
        </p:nvSpPr>
        <p:spPr>
          <a:xfrm>
            <a:off x="1543466" y="2352701"/>
            <a:ext cx="2149812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Both preprocessed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2AEE7F-5329-FEBD-425B-B187D4C61A61}"/>
              </a:ext>
            </a:extLst>
          </p:cNvPr>
          <p:cNvSpPr txBox="1">
            <a:spLocks/>
          </p:cNvSpPr>
          <p:nvPr/>
        </p:nvSpPr>
        <p:spPr>
          <a:xfrm>
            <a:off x="4798924" y="2348842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 preprocessed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A782C59-9F1E-FDD0-027F-279BCBB6988B}"/>
              </a:ext>
            </a:extLst>
          </p:cNvPr>
          <p:cNvSpPr txBox="1">
            <a:spLocks/>
          </p:cNvSpPr>
          <p:nvPr/>
        </p:nvSpPr>
        <p:spPr>
          <a:xfrm>
            <a:off x="8514533" y="2348841"/>
            <a:ext cx="2480879" cy="46719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preprocessed</a:t>
            </a:r>
          </a:p>
        </p:txBody>
      </p:sp>
    </p:spTree>
    <p:extLst>
      <p:ext uri="{BB962C8B-B14F-4D97-AF65-F5344CB8AC3E}">
        <p14:creationId xmlns:p14="http://schemas.microsoft.com/office/powerpoint/2010/main" val="34539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4DED9-2970-4506-95F4-125DD108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FB15-9008-0EE7-7A5D-A9D5F372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Week 5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A632C-580C-86CB-08D4-7D82043681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4BBAE99-32F1-05B9-D911-C111BB398D96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F4E690-87A6-6C3A-9570-9D45ECA25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244702"/>
              </p:ext>
            </p:extLst>
          </p:nvPr>
        </p:nvGraphicFramePr>
        <p:xfrm>
          <a:off x="910465" y="2399180"/>
          <a:ext cx="9997440" cy="175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6240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1161212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Scaling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durations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frequencies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data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Both prep.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70.5%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69.9%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68.7%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68.5%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62.7%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 only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35.6%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68.7%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62.7%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70.1%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45.1%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443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Test only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30.3%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58.8%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62.1%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39.0%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26.9%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183412"/>
                  </a:ext>
                </a:extLst>
              </a:tr>
            </a:tbl>
          </a:graphicData>
        </a:graphic>
      </p:graphicFrame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EAF52E6-DDC8-6BF9-4614-D21CA7974257}"/>
              </a:ext>
            </a:extLst>
          </p:cNvPr>
          <p:cNvSpPr txBox="1">
            <a:spLocks/>
          </p:cNvSpPr>
          <p:nvPr/>
        </p:nvSpPr>
        <p:spPr>
          <a:xfrm>
            <a:off x="845572" y="1983758"/>
            <a:ext cx="1890486" cy="35752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Baseline 70.5%</a:t>
            </a:r>
            <a:endParaRPr lang="en-AE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90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00EB8-9D0E-DE64-FB3E-A0ABEB4D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F3FF-FE87-46B9-74FC-5BDA7E8A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26" y="2917798"/>
            <a:ext cx="3242217" cy="1022403"/>
          </a:xfrm>
        </p:spPr>
        <p:txBody>
          <a:bodyPr>
            <a:noAutofit/>
          </a:bodyPr>
          <a:lstStyle/>
          <a:p>
            <a:r>
              <a:rPr lang="en-US" sz="6600" dirty="0"/>
              <a:t>Week 6 </a:t>
            </a:r>
            <a:endParaRPr lang="en-AE" sz="6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C0F0-2B4F-6D7C-5C8B-D3776FAC038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2B7E08-51F2-EC52-7950-9BAE51CC8BBC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673749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72202-B8B6-3D85-BFF7-44776E55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E12FC-52CA-6F32-88CF-F13DBFC8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 err="1"/>
              <a:t>Csp</a:t>
            </a:r>
            <a:r>
              <a:rPr lang="en-US" dirty="0"/>
              <a:t> </a:t>
            </a:r>
            <a:r>
              <a:rPr lang="en-US" dirty="0" err="1"/>
              <a:t>lda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C443D-170A-5424-AB10-5F3C49B57F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ED400DB-7332-A68E-ACA3-948ED9EA3084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B6CDCDA-AD08-62B4-F06D-A5BCEE41CD58}"/>
              </a:ext>
            </a:extLst>
          </p:cNvPr>
          <p:cNvSpPr txBox="1">
            <a:spLocks/>
          </p:cNvSpPr>
          <p:nvPr/>
        </p:nvSpPr>
        <p:spPr>
          <a:xfrm>
            <a:off x="596295" y="1109041"/>
            <a:ext cx="8771880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- Accuracy: 70.1</a:t>
            </a:r>
          </a:p>
          <a:p>
            <a:pPr marL="0" indent="0">
              <a:buNone/>
            </a:pPr>
            <a:r>
              <a:rPr lang="en-US" b="1" dirty="0"/>
              <a:t>- Recall: 68.5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A11A0F-3D47-3055-F211-2EDC26F86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606" y="2004035"/>
            <a:ext cx="5572924" cy="417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51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A6F2F-2B90-8B8A-56FB-4735CA981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BD44-0DA4-64A1-11E0-5FF64C78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E3785-B3CC-83A8-7281-44D8A160A8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F9D3734-538B-A045-523D-713F69F36119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9D4F6AC-6A4E-938E-CC2C-8A47AF277FDB}"/>
              </a:ext>
            </a:extLst>
          </p:cNvPr>
          <p:cNvSpPr txBox="1">
            <a:spLocks/>
          </p:cNvSpPr>
          <p:nvPr/>
        </p:nvSpPr>
        <p:spPr>
          <a:xfrm>
            <a:off x="596295" y="1109041"/>
            <a:ext cx="8771880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B</a:t>
            </a:r>
            <a:r>
              <a:rPr lang="en-AE" b="1" dirty="0"/>
              <a:t>est accuracy: 63.1%</a:t>
            </a:r>
          </a:p>
          <a:p>
            <a:pPr marL="285750" indent="-285750">
              <a:buFontTx/>
              <a:buChar char="-"/>
            </a:pPr>
            <a:r>
              <a:rPr lang="en-AE" b="1" dirty="0"/>
              <a:t>Recall: 63.7</a:t>
            </a:r>
          </a:p>
          <a:p>
            <a:pPr marL="285750" indent="-285750">
              <a:buFontTx/>
              <a:buChar char="-"/>
            </a:pP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49F7E9-165F-608B-2B13-4F4FD6A84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25" y="1809289"/>
            <a:ext cx="53911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58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AD6B0-037C-41E6-957F-220825CE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CC4E-3243-E51E-0CD9-561C48CE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</a:t>
            </a:r>
            <a:r>
              <a:rPr lang="en-US" b="1" dirty="0"/>
              <a:t>Scaling</a:t>
            </a:r>
            <a:r>
              <a:rPr lang="en-US" dirty="0"/>
              <a:t> – both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DBB76-8A5B-33B3-73A8-8EC57F6C72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684C3F-05E3-632F-30C6-1486486D3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196272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63.8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CFEA36F-6180-24D2-8412-338F117F0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0" y="3207436"/>
            <a:ext cx="3284861" cy="24736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B21341-6AFE-D298-41F4-5A4DC468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216" y="3207436"/>
            <a:ext cx="3275279" cy="24664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87170C-2A4A-CE4D-BB03-44A601EBF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406" y="3207437"/>
            <a:ext cx="3275280" cy="24664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B0060F-C550-F127-38D0-72DAB5E1A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828" y="3241268"/>
            <a:ext cx="3284860" cy="247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95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942B-F2FE-4332-77E5-62D2F5C1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30AA-A1D3-7E0C-CEBE-FBC54947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Scaling – Train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DE20D-CE42-9DC7-E2D7-844B267F77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6801B0C-8C51-E9E4-F049-B946DCB4E522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45B927C-67B5-ECEE-C00A-5AA17B7C6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066614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61.7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56.9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51.3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F19540B-B96A-BE2E-017A-3B664EB08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" y="3146754"/>
            <a:ext cx="3299959" cy="2524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E45C9A-BA7F-E04A-0FB2-396487D97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479" y="3182908"/>
            <a:ext cx="3352433" cy="2524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4CBE9F-D94E-74DF-80F5-B91DE38AA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888" y="3146754"/>
            <a:ext cx="3347219" cy="25322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9FD601-2504-BB23-84D9-79BD83880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275" y="3146754"/>
            <a:ext cx="3347219" cy="256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039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21D2-EF35-1678-DF7E-B4D09A84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06B0-4BE3-36B8-F151-FE692414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Scaling – test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697C8-9073-3FD6-57D5-467C8CA2A8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3427A3A-B11E-F6DB-5C77-BDE6680EAF9A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063432-137E-5DC2-A486-5987BAD3F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368299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59.9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43.3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B0E9545-9B97-AA5F-136A-F16447B3D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6754"/>
            <a:ext cx="3352433" cy="25245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9B071F-7141-6C25-2583-3110256D1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275" y="3134055"/>
            <a:ext cx="3299960" cy="25245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9DBC90-F489-2DE5-A4A9-80344DCCB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775" y="3146755"/>
            <a:ext cx="3299960" cy="25245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192063E-1871-721B-361D-F7DDE803E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813" y="3146754"/>
            <a:ext cx="3335570" cy="251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7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5244B6-AF6D-8E64-573C-1ED62208D90A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Eegnet – Scaling – summary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45C718-8CF8-4190-8FB0-19E505367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36" y="1724375"/>
            <a:ext cx="5172075" cy="398145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FED35-42BE-E2EF-C345-90BB0766A92A}"/>
              </a:ext>
            </a:extLst>
          </p:cNvPr>
          <p:cNvSpPr txBox="1">
            <a:spLocks/>
          </p:cNvSpPr>
          <p:nvPr/>
        </p:nvSpPr>
        <p:spPr>
          <a:xfrm>
            <a:off x="6096000" y="1894013"/>
            <a:ext cx="5258305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Feet degraded the most</a:t>
            </a:r>
          </a:p>
          <a:p>
            <a:pPr marL="285750" indent="-285750">
              <a:buFontTx/>
              <a:buChar char="-"/>
            </a:pPr>
            <a:r>
              <a:rPr lang="en-US" dirty="0"/>
              <a:t>Larger</a:t>
            </a:r>
            <a:r>
              <a:rPr lang="en-AE" dirty="0"/>
              <a:t> scales cause classes to be confused as tongue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904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E13BD-E440-F200-10E9-1D7C4CB0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2722-32CB-B1A4-0953-54B08147C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</a:t>
            </a:r>
            <a:r>
              <a:rPr lang="en-US" b="1" dirty="0"/>
              <a:t>noise</a:t>
            </a:r>
            <a:r>
              <a:rPr lang="en-US" dirty="0"/>
              <a:t> – both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D2A92-8B37-D17D-F431-3FB75D3C1E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4251E6A-5AB7-BF01-FBAA-4DA6B8B474C4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077E80-55DA-2142-2DB9-3029EC5E7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972667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342A9ED-9D31-B175-CF72-FE7904223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" y="3164019"/>
            <a:ext cx="3241646" cy="2479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C6FC6A-5711-39EB-10F1-11B91F65D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502" y="3146754"/>
            <a:ext cx="3299960" cy="25245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629E0E-2BFF-4F3E-9917-4D1B86873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415" y="3146753"/>
            <a:ext cx="3241646" cy="24799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7C91AB-C12A-E6AE-116E-5515FB567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120" y="3168275"/>
            <a:ext cx="3185380" cy="243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02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8145-3024-AAF2-E0A6-138D5E6A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EAFE-3192-00A2-719D-4BD3F10D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noise – train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C0CCA-7D3D-4D7E-681A-D8CA1B8097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EE3BCE9-2DC6-EB25-C0BE-AC9D41D41270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AC9A9C-99FF-2361-45B5-D3BD21BF9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90079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58.9%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437515D-5F90-AD13-B0DC-C743A8047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8275"/>
            <a:ext cx="3337023" cy="2524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DE55BB-E3A4-5A82-3DC1-5A836DDB9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248" y="3168276"/>
            <a:ext cx="3299964" cy="25245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44D3FA-E150-510F-16AC-E6630B0D0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163" y="3168273"/>
            <a:ext cx="3299961" cy="25245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59AC615-E872-9533-8A83-1ED28CBE7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898" y="3166879"/>
            <a:ext cx="3299961" cy="252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96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630F-945B-8FE3-1A5B-1B94D75B7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DE9B-70D0-E903-9993-FC50174F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noise – test set only preprocessed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A5983-FB6A-6914-90FD-FA25A50202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2FB446-DC43-194B-86C7-A0D245E19834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AED109-F376-AE76-EE4F-255090CB8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042629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63.7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53.6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DC821AE-358C-5321-6418-51CCCBF0C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5" y="3168274"/>
            <a:ext cx="3299961" cy="2524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FC013B-63C2-9668-7E02-6434AD275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539" y="3168274"/>
            <a:ext cx="3299960" cy="25245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B5A6FE-2318-EF32-649D-52CA92F67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775" y="3168275"/>
            <a:ext cx="3299960" cy="25245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9EEFF2-8ECA-68D9-939D-063853DFF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368" y="3168275"/>
            <a:ext cx="3299960" cy="25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658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CAE9-98D6-AB6F-2B89-B3FACCBC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09BEF7E-42CE-5DBC-B3A2-1CA2B03A0915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Eegnet – noise – summary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7CA01-DF92-46E8-3789-6B4C4336E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3" y="1759407"/>
            <a:ext cx="5172075" cy="3933825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186DF09-AF0A-4A98-5A5E-2728A355E434}"/>
              </a:ext>
            </a:extLst>
          </p:cNvPr>
          <p:cNvSpPr txBox="1">
            <a:spLocks/>
          </p:cNvSpPr>
          <p:nvPr/>
        </p:nvSpPr>
        <p:spPr>
          <a:xfrm>
            <a:off x="6096000" y="1894013"/>
            <a:ext cx="5258305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In Test, larger</a:t>
            </a:r>
            <a:r>
              <a:rPr lang="en-AE" dirty="0"/>
              <a:t> scales cause classes to be confused as feet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746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4E3BE-4157-EC90-650B-0F0B43576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73DFD-C1E9-010F-A9C0-727D0A45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</a:t>
            </a:r>
            <a:r>
              <a:rPr lang="en-US" b="1" dirty="0"/>
              <a:t>missing durations</a:t>
            </a:r>
            <a:r>
              <a:rPr lang="en-US" dirty="0"/>
              <a:t> – both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C1568-EF3F-4140-F021-4B7C6EDFCE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B9745A-076A-8A85-3437-CD39E13D4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147883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62.7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63.2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1C98DA6-0A32-D54C-1C3A-DA7F298CF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3164777"/>
            <a:ext cx="3241645" cy="2479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FBB644-8814-3C59-1E03-A4971667E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1" y="3164776"/>
            <a:ext cx="3293190" cy="24799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3CD0D2-1371-9BE9-12CB-64B20E141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047" y="3164775"/>
            <a:ext cx="3241645" cy="24799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984B11-527D-CBA7-E7CA-C020215A1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193" y="3164774"/>
            <a:ext cx="3293191" cy="247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64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0CC2-029C-F11D-969B-9E3A21BD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7F991-E150-88E9-D008-5F310AB5A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missing durations – train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40DDB-A68D-1842-2687-5ECBEB300E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042511-875A-6845-8649-135B60EED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80299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63.7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62.9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26A9EF7-45B2-5136-C322-01261EDA6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1" y="3197838"/>
            <a:ext cx="3293192" cy="2479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EB73E3-3C97-497C-B8D8-727007F35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129" y="3197837"/>
            <a:ext cx="3241647" cy="24799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67D53E-4258-DA2F-EB71-1E1C67E20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411" y="3192228"/>
            <a:ext cx="3277812" cy="2491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26C64A-9C38-8FF2-B318-7503B407F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694" y="3203719"/>
            <a:ext cx="3277812" cy="247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43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AC600-A315-F2C5-76CF-952317B06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D489-E0F4-7C14-7F74-5E0F0FC4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missing durations – Test 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38648-07F1-1D7A-E85F-93A42B904B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7CA446-9D7B-5E43-88A0-FDEE9580E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142440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61.7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59.9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13E9D2B-CE82-BD29-13B3-806EC8ECA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1" y="3183452"/>
            <a:ext cx="3241647" cy="2479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4C2FAA-82C1-B152-EECE-285331DBE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349" y="3183452"/>
            <a:ext cx="3241647" cy="2441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FF8A83-D82B-8CA4-49FF-E97812998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802" y="3183452"/>
            <a:ext cx="3293192" cy="24799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0CA32D-3915-8677-0490-083679A0E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4450" y="3183452"/>
            <a:ext cx="3293192" cy="250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22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89301-DF03-2C7A-ECF4-AC25DFCF2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5C782C-7ACD-583C-F64A-D8672E402614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Eegnet – missing durations – summary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57245-7031-15C4-FC26-0197A5344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1938337"/>
            <a:ext cx="5172075" cy="3933825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F69105-22F7-33ED-4CE6-69CA9823BFB8}"/>
              </a:ext>
            </a:extLst>
          </p:cNvPr>
          <p:cNvSpPr txBox="1">
            <a:spLocks/>
          </p:cNvSpPr>
          <p:nvPr/>
        </p:nvSpPr>
        <p:spPr>
          <a:xfrm>
            <a:off x="6096000" y="1894013"/>
            <a:ext cx="5258305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In test, duration increased, feet were classified as other classes</a:t>
            </a:r>
            <a:endParaRPr lang="en-AE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919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F5254-0856-D0E2-B558-A46EF387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3AFD-4F58-2C35-AB0E-002CE1BF9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</a:t>
            </a:r>
            <a:r>
              <a:rPr lang="en-US" b="1" dirty="0"/>
              <a:t>missing frequencies</a:t>
            </a:r>
            <a:r>
              <a:rPr lang="en-US" dirty="0"/>
              <a:t> – both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288F3-FA05-0A5D-8B95-8166BD64A8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865B4D-CA5F-8975-ABD2-49C1D228C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40790"/>
              </p:ext>
            </p:extLst>
          </p:nvPr>
        </p:nvGraphicFramePr>
        <p:xfrm>
          <a:off x="427727" y="1769792"/>
          <a:ext cx="10439399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1607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874617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3358764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3434411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0F592DB-ED31-56B1-E3ED-6A0BB55D2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31" y="3289639"/>
            <a:ext cx="3168282" cy="2541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D4326B-0922-D3B7-7DBC-9A2370648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285" y="3238839"/>
            <a:ext cx="3168281" cy="25413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6C3378-80CE-3981-C2DB-93F83C96B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995" y="3153071"/>
            <a:ext cx="3254905" cy="256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95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0FEEB-A89D-544C-F3CB-E923419F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6C2E-AF35-1683-DB16-7A526680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missing frequencies – train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EAF18-727E-AFC9-4CC3-06BD64A71C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41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E0A03D-C900-7383-FFAC-96033E5B0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169639"/>
              </p:ext>
            </p:extLst>
          </p:nvPr>
        </p:nvGraphicFramePr>
        <p:xfrm>
          <a:off x="427727" y="1769792"/>
          <a:ext cx="10439399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1607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874617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3358764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3434411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62.3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8A2D962-A6AD-3F1F-EA42-0C93BC5AB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76" y="3314700"/>
            <a:ext cx="3168281" cy="25413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1DDD9B-3AD0-FDD2-9AD6-10440F5FB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285" y="3273406"/>
            <a:ext cx="3168281" cy="25413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A63D51-F7AC-92E9-0434-1B3559D75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197" y="3202617"/>
            <a:ext cx="3168281" cy="25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947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F63D-8042-3D14-C31B-ABADC177A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95E2B-7156-BDB1-E0C8-474E3B96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missing frequencies – test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F2026-B68D-1C45-E75B-293179C09A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456B65-5400-5289-2026-A570174D8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89615"/>
              </p:ext>
            </p:extLst>
          </p:nvPr>
        </p:nvGraphicFramePr>
        <p:xfrm>
          <a:off x="427727" y="1769792"/>
          <a:ext cx="10439399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1607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874617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3358764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3434411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59.9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59.2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BD44EC2-8AC7-1DE0-13A6-BC5BA1DDB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1" y="3267682"/>
            <a:ext cx="3218660" cy="25413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DE765D-0F18-D32D-B78B-31E0DF8B1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096" y="3232288"/>
            <a:ext cx="3218660" cy="25413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F81B45-17F9-3468-22C3-694DD9B2C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206" y="3196894"/>
            <a:ext cx="3218660" cy="25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277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7B071-0D16-762E-D322-86FFB9BD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EE0C7D-82E0-C389-016D-4A42348810C4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Eegnet – missing frequencies – summary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A6891-17A8-5131-4332-03C9FC81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4" y="1750037"/>
            <a:ext cx="51720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9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1AA-8E70-C98B-D510-1613CF9D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D484-428F-F943-9895-4FB91D6D9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Class summaries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0128-CDE4-220D-B463-9729EB5A6B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378078A-55E5-BB80-A2BF-18FC88DE4FDB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02CF87A-27AE-32A0-9EAD-BCAB1FFAB1F9}"/>
              </a:ext>
            </a:extLst>
          </p:cNvPr>
          <p:cNvSpPr txBox="1">
            <a:spLocks/>
          </p:cNvSpPr>
          <p:nvPr/>
        </p:nvSpPr>
        <p:spPr>
          <a:xfrm>
            <a:off x="596295" y="1109041"/>
            <a:ext cx="8771880" cy="4562241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Feet:</a:t>
            </a:r>
          </a:p>
          <a:p>
            <a:pPr marL="285750" indent="-285750">
              <a:buFontTx/>
              <a:buChar char="-"/>
            </a:pPr>
            <a:r>
              <a:rPr lang="en-US" dirty="0"/>
              <a:t>Most affected by mismatch in test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Consistently confused with tongue</a:t>
            </a:r>
          </a:p>
          <a:p>
            <a:pPr marL="0" indent="0">
              <a:buNone/>
            </a:pPr>
            <a:r>
              <a:rPr lang="en-US" b="1" dirty="0"/>
              <a:t>Left and right hand:</a:t>
            </a:r>
          </a:p>
          <a:p>
            <a:pPr marL="285750" indent="-285750">
              <a:buFontTx/>
              <a:buChar char="-"/>
            </a:pPr>
            <a:r>
              <a:rPr lang="en-US" dirty="0"/>
              <a:t>Most robust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Consistently confused with one another</a:t>
            </a:r>
          </a:p>
          <a:p>
            <a:pPr marL="285750" indent="-285750">
              <a:buFontTx/>
              <a:buChar char="-"/>
            </a:pPr>
            <a:r>
              <a:rPr lang="en-US" dirty="0"/>
              <a:t>Rarely predicted as tongue or feet</a:t>
            </a:r>
          </a:p>
          <a:p>
            <a:pPr marL="0" indent="0">
              <a:buNone/>
            </a:pPr>
            <a:r>
              <a:rPr lang="en-US" b="1" dirty="0"/>
              <a:t>Tongue:</a:t>
            </a:r>
          </a:p>
          <a:p>
            <a:pPr marL="285750" indent="-285750">
              <a:buFontTx/>
              <a:buChar char="-"/>
            </a:pPr>
            <a:r>
              <a:rPr lang="en-US" dirty="0"/>
              <a:t>Robust but gets confused under large mismatches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Consistently confused with tongue</a:t>
            </a:r>
          </a:p>
          <a:p>
            <a:pPr marL="0" indent="0">
              <a:buNone/>
            </a:pPr>
            <a:endParaRPr lang="en-AE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113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F88BF-CE74-2C93-2352-629E4741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275A-7177-485E-0F97-A77E65BB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086" y="2917798"/>
            <a:ext cx="3147828" cy="1022403"/>
          </a:xfrm>
        </p:spPr>
        <p:txBody>
          <a:bodyPr>
            <a:noAutofit/>
          </a:bodyPr>
          <a:lstStyle/>
          <a:p>
            <a:r>
              <a:rPr lang="en-US" sz="6600" dirty="0"/>
              <a:t>Week 7</a:t>
            </a:r>
            <a:endParaRPr lang="en-AE" sz="6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4364A-4FAE-ABB4-FCE3-6C3F547227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E62B185-3465-C13B-3848-2AA3F94F1A32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4475189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FDD84-1FE1-05AE-A8C1-4261A19B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965E-8555-1181-6A98-CBC7D5E8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F3347-82ED-0261-3A27-19F32FB68E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1595B7-887D-5798-5A33-6C65F972E58B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EFE4D54-CDB7-6050-AD3A-C7FA5991DCF7}"/>
              </a:ext>
            </a:extLst>
          </p:cNvPr>
          <p:cNvSpPr txBox="1">
            <a:spLocks/>
          </p:cNvSpPr>
          <p:nvPr/>
        </p:nvSpPr>
        <p:spPr>
          <a:xfrm>
            <a:off x="596295" y="1109041"/>
            <a:ext cx="8771880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b="1" dirty="0"/>
              <a:t>B</a:t>
            </a:r>
            <a:r>
              <a:rPr lang="en-AE" b="1" dirty="0"/>
              <a:t>est accuracy: 48.3%</a:t>
            </a:r>
          </a:p>
          <a:p>
            <a:pPr marL="285750" indent="-285750">
              <a:buFontTx/>
              <a:buChar char="-"/>
            </a:pPr>
            <a:r>
              <a:rPr lang="en-AE" b="1" dirty="0"/>
              <a:t>Recall: 69.67</a:t>
            </a:r>
          </a:p>
          <a:p>
            <a:pPr marL="285750" indent="-285750">
              <a:buFontTx/>
              <a:buChar char="-"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78F99-572E-D134-7A12-A431A23D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121" y="2109396"/>
            <a:ext cx="53911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752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3D21-79C3-ED6B-F5F9-03BA0850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8CE1-611E-0C8E-2EFD-CD8501B6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</a:t>
            </a:r>
            <a:r>
              <a:rPr lang="en-US" b="1" dirty="0"/>
              <a:t>Scaling</a:t>
            </a:r>
            <a:r>
              <a:rPr lang="en-US" dirty="0"/>
              <a:t> – both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C3F47-EDF5-8981-7FB1-98942C0087B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972A49-08CC-7FDA-4206-44E7A8126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588278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44.7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9C4F403-A54F-A3EB-BA04-9484EA2F4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3" y="3182252"/>
            <a:ext cx="3275279" cy="2516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875353-BF12-6428-5047-77D5725E6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534" y="3182252"/>
            <a:ext cx="3275279" cy="2516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504845-E78E-C73A-9317-7766FC399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27" y="3182252"/>
            <a:ext cx="3275279" cy="25167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B270CF-9BC7-2DBF-74A9-8D7AED141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038" y="3236718"/>
            <a:ext cx="3275279" cy="251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786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D0A4-EE4B-8BDB-6486-F77C36DC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5844-322F-8282-A52B-E303FBB1A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Scaling – Train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2E53B-5C0C-A7CB-57DF-4928B447A8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BE9D695-3B45-9AE7-D65C-3C9603295863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B7B213-735E-8038-9385-607C7159D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890134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63D44FE-5AC0-A977-ACC4-E17F1B6A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" y="3126839"/>
            <a:ext cx="3347219" cy="25720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C6B003-A36E-405B-553D-4AA1D91F7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93" y="3099208"/>
            <a:ext cx="3347219" cy="25720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BF3764-7EE0-8CCB-C5E7-39552C9A7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858" y="3126839"/>
            <a:ext cx="3311261" cy="25444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6391AB-E39B-108F-B3E4-5DDBEE5EA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249" y="3193596"/>
            <a:ext cx="3224386" cy="247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34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72666-58ED-6080-2C9B-A49E8D48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7E9F-3A44-5C58-5368-9A5DE3F4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Scaling – test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CAE3C-D367-871D-3B71-E62E3C74A7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F0753E6-E47D-1131-1B01-B8C15941F73D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783255-49E1-E565-435C-5931B3D8B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76802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CC43D56-D9FA-5AB3-EAF5-1FBE4252A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280682"/>
            <a:ext cx="3201003" cy="2459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A75BAD-690F-21BE-A3F4-CBB539A8A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665" y="3280682"/>
            <a:ext cx="3201003" cy="24597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07C2BF-4BA7-28D2-4105-781C82D5B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583" y="3280682"/>
            <a:ext cx="3201003" cy="24597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DA1DF2-74EA-1F5F-91A5-0EDA08EB1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478" y="3323760"/>
            <a:ext cx="3097722" cy="23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725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CEAB1-E0C8-A30C-97B4-2F0B985D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17D96A2-10FB-1853-B5DD-A79E777FB029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Eegnet – Scaling – summary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E0933-6B43-7809-60F0-B06142985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62" y="1774538"/>
            <a:ext cx="52959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0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6FC7-8703-7C23-E2C5-F3B5D684F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F581-6E37-6184-3DEE-74295E955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</a:t>
            </a:r>
            <a:r>
              <a:rPr lang="en-US" b="1" dirty="0"/>
              <a:t>noise</a:t>
            </a:r>
            <a:r>
              <a:rPr lang="en-US" dirty="0"/>
              <a:t> – both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CDF0A-7382-C6F5-2B8B-BE47F709A7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0EA4103-88C2-C4EF-9A69-44FD4BD87B1F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617D00-64FC-667C-0E9A-C400E4D5B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30214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47.9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1C79EEA-6B08-220D-5496-1D9E35BD2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" y="3168275"/>
            <a:ext cx="3299960" cy="25357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AA37FF-25FF-67D9-473C-16BD0572E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754" y="3168275"/>
            <a:ext cx="3299960" cy="25357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8883EB-585A-32F5-7220-165D6CC17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603" y="3168275"/>
            <a:ext cx="3299959" cy="25357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80F440-5869-DC7C-0AFC-51AC69DE9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6454" y="3188438"/>
            <a:ext cx="3273720" cy="251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109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43D9-1F2C-889E-83C9-043BA69D7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D1DB-9F23-40E0-3B18-59CE5F5E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noise – train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53429-5A60-5D10-0E66-5ED41807409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21CCC62-E23F-886E-DE9E-7E0CCEB332A6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95EE0F-0A54-46C7-D4DE-4EF81413F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017987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44.7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8491D80-18F1-861B-295C-9EBC27475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5890"/>
            <a:ext cx="3285347" cy="2524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69D999-5AC5-684A-1AF0-37541A393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061" y="3175890"/>
            <a:ext cx="3285347" cy="25245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5F6363-D5E0-4340-CA7E-B6CB625D1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835" y="3175890"/>
            <a:ext cx="3285347" cy="25245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21CBE0-449E-9939-6D1B-C961252D6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7896" y="3175890"/>
            <a:ext cx="3285347" cy="25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5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174A-D0F3-4FEE-34AB-BEABF0C2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C2D1-A83E-F630-AAAE-DDC066F3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noise – test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C34B9-FEA7-F72B-10F6-439CF244A3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5A1083-40B2-AFEC-0F6B-FA90DC802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643786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242BC04-9804-5E69-F74F-44599F925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2" y="3164470"/>
            <a:ext cx="3299961" cy="25068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64D6AC-23B1-16EA-ABEB-E307407F2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17" y="3164471"/>
            <a:ext cx="3299961" cy="25068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8D2BDB-7A78-08C0-BAC9-5A3F8A8BF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683" y="3164470"/>
            <a:ext cx="3299960" cy="25068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826777-8AB0-82CC-1412-6AF56D41B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448" y="3164470"/>
            <a:ext cx="3299960" cy="250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0427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ACFCB-0C59-75E3-68B0-652F3B99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B3C5D52-D44C-FE1D-9860-D32A0DCACD80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Eegnet – noise – summary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D61DF-EB96-0B9D-B13F-F7BDEB65A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05" y="1774539"/>
            <a:ext cx="51720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310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20D2-FB55-888E-ED4A-7C149030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3AAE-2DA9-8494-EFA5-88A44305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</a:t>
            </a:r>
            <a:r>
              <a:rPr lang="en-US" b="1" dirty="0"/>
              <a:t>missing durations</a:t>
            </a:r>
            <a:r>
              <a:rPr lang="en-US" dirty="0"/>
              <a:t> – both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36E7B-0B99-2FC4-844F-CEE6772FF3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B529E51-049E-7380-18E0-204D42656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317779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44.6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FEABC84-4807-FB3D-AB16-A3C7F6F17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5748"/>
            <a:ext cx="3227287" cy="24799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264FF1-94CC-797A-7107-4DF5DE0E3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713" y="3135748"/>
            <a:ext cx="3227287" cy="24799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6E5F92-548F-664C-29A6-854F7B3D8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713" y="3135747"/>
            <a:ext cx="3227287" cy="24799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C5B706-41F7-A749-F2B5-52E107312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198" y="3135746"/>
            <a:ext cx="3227287" cy="24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97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E0DF-01BE-E557-B916-2ADEAF05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4858F-83B4-7B7A-B322-E785BDC9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missing durations – train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68EFB-6848-C4FA-8A56-E4E0C4E78A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9296FD-3ECD-DA20-1B99-96419AD12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13719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45.9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00C1E66-2661-66F8-008A-46BE77048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1162"/>
            <a:ext cx="3227289" cy="24799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E24C5F-8C94-F71C-1323-3C82282D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804" y="3201162"/>
            <a:ext cx="3227289" cy="24799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B3EC6D-9C2E-6D5F-EBDC-33E65B196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546" y="3201162"/>
            <a:ext cx="3227289" cy="24799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D95FE2-CCAB-3A38-3DB9-02A7005F6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350" y="3201162"/>
            <a:ext cx="3227289" cy="247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70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E009-B39C-E52F-2C97-6C221639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246A-BF5B-EB20-2CEB-89688DA9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missing durations – Test 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C3231-A049-EDEF-3F42-662FF8FC1B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133E05-3615-165D-9EC7-0620CC07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90135"/>
              </p:ext>
            </p:extLst>
          </p:nvPr>
        </p:nvGraphicFramePr>
        <p:xfrm>
          <a:off x="152401" y="1826942"/>
          <a:ext cx="11272221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7699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2509222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44.5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8342315-80C8-048B-4D4A-48A06F40A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0496"/>
            <a:ext cx="3299203" cy="2535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486747-21E5-36AB-0E7B-C21CDECE3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375" y="3270496"/>
            <a:ext cx="3299203" cy="25351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9B5C6-9590-BE93-2CFF-D13558B34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510" y="3270496"/>
            <a:ext cx="3299203" cy="25351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157E20-3FDB-C460-31C7-5AF4DD737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1885" y="3270496"/>
            <a:ext cx="3299203" cy="253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91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3210-2D88-D7AC-8761-B790B7F8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90AE30-A61B-BA00-3549-416ED2E4E69C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Eegnet – missing durations – summary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33BFC-3149-7D37-30C7-3020872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75" y="1804035"/>
            <a:ext cx="51720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798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87E8C-33C6-3355-A13B-D2EAD48BD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78EC-AA84-D394-FC83-29A41303D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</a:t>
            </a:r>
            <a:r>
              <a:rPr lang="en-US" b="1" dirty="0"/>
              <a:t>missing frequencies</a:t>
            </a:r>
            <a:r>
              <a:rPr lang="en-US" dirty="0"/>
              <a:t> – both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F497E-98B8-A2A8-3C3D-26388D727A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59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010F23-A4FB-5167-EE80-F84767F22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97942"/>
              </p:ext>
            </p:extLst>
          </p:nvPr>
        </p:nvGraphicFramePr>
        <p:xfrm>
          <a:off x="427727" y="1769792"/>
          <a:ext cx="10439399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1607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874617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3358764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3434411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47.0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3B22B75E-A1E7-E16B-2C9F-810258AF1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88" y="3243108"/>
            <a:ext cx="3268274" cy="26031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5AF0B6-A4EB-2C58-B5DF-A9BE44F38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23" y="3184116"/>
            <a:ext cx="3402883" cy="27103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04ACD9-EBC9-5B29-FFB0-10D746587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018" y="3198053"/>
            <a:ext cx="3293085" cy="262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03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1C29-14EE-AF91-BF06-B1FE92BC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865E7-706D-5F53-9F8A-E9605428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missing frequencies – train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85C77-163B-E931-BF16-1761E9AFFA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60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687519C-6B19-E21D-8DE9-3C95BDCAA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819844"/>
              </p:ext>
            </p:extLst>
          </p:nvPr>
        </p:nvGraphicFramePr>
        <p:xfrm>
          <a:off x="427727" y="1769792"/>
          <a:ext cx="10439399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1607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874617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3358764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3434411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44.9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0A5B9A-EF6E-84FD-1BB0-726306386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27" y="3309209"/>
            <a:ext cx="3610928" cy="2876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32D08-8D7F-172E-67C3-63DA3E213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355" y="3335829"/>
            <a:ext cx="3610928" cy="28313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3B9ECA-1351-C493-E05A-EE90CCB81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358" y="3309209"/>
            <a:ext cx="3610928" cy="28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841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B52CF-CB32-7EFF-7A00-D6C33CEB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61D2C-7ABA-E8BE-C896-7B125144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42" y="558801"/>
            <a:ext cx="9953308" cy="499034"/>
          </a:xfrm>
        </p:spPr>
        <p:txBody>
          <a:bodyPr/>
          <a:lstStyle/>
          <a:p>
            <a:r>
              <a:rPr lang="en-US" dirty="0"/>
              <a:t>Eegnet – missing frequencies – test </a:t>
            </a:r>
            <a:endParaRPr lang="en-A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89083-CC53-8D91-8499-5752CCFDDF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61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F6DA557-28CE-65E8-EFE2-6B516304B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66842"/>
              </p:ext>
            </p:extLst>
          </p:nvPr>
        </p:nvGraphicFramePr>
        <p:xfrm>
          <a:off x="427727" y="1769792"/>
          <a:ext cx="10439399" cy="8928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1607">
                  <a:extLst>
                    <a:ext uri="{9D8B030D-6E8A-4147-A177-3AD203B41FA5}">
                      <a16:colId xmlns:a16="http://schemas.microsoft.com/office/drawing/2014/main" val="2455714137"/>
                    </a:ext>
                  </a:extLst>
                </a:gridCol>
                <a:gridCol w="2874617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3358764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3434411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305394">
                <a:tc>
                  <a:txBody>
                    <a:bodyPr/>
                    <a:lstStyle/>
                    <a:p>
                      <a:r>
                        <a:rPr lang="en-US" dirty="0"/>
                        <a:t>Acc</a:t>
                      </a:r>
                      <a:endParaRPr lang="en-AE" dirty="0"/>
                    </a:p>
                  </a:txBody>
                  <a:tcPr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46.2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0A24B0B-2E2E-976D-4156-9A75EB615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1" y="3163494"/>
            <a:ext cx="3379864" cy="2692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0B130A-6B1C-68CD-1ABC-51E21DDA2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775" y="3163494"/>
            <a:ext cx="3379864" cy="26920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6DBA5F-DA1E-98D5-C8A5-F48307C26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393" y="3163494"/>
            <a:ext cx="3492733" cy="278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428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CDD4-E1D2-7321-67EC-1F6199B9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B5A9CD5-DED0-3D6F-F7A3-B2AE08D2370A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Eegnet – missing frequencies – summary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19C17A-2E39-D3FB-D52F-32FD9CF7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79" y="1780438"/>
            <a:ext cx="51720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281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851EE-0447-CA91-1BAB-520C55F5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BA79-E458-D2FB-D4E3-E26C6F61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086" y="2917798"/>
            <a:ext cx="3147828" cy="1022403"/>
          </a:xfrm>
        </p:spPr>
        <p:txBody>
          <a:bodyPr>
            <a:noAutofit/>
          </a:bodyPr>
          <a:lstStyle/>
          <a:p>
            <a:r>
              <a:rPr lang="en-US" sz="6600" dirty="0"/>
              <a:t>Week 8</a:t>
            </a:r>
            <a:endParaRPr lang="en-AE" sz="6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E0C69-6960-EA98-D4E5-FF51878769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BA1616C-EAAE-DF12-F120-3C5BF62C9F05}"/>
              </a:ext>
            </a:extLst>
          </p:cNvPr>
          <p:cNvSpPr txBox="1">
            <a:spLocks/>
          </p:cNvSpPr>
          <p:nvPr/>
        </p:nvSpPr>
        <p:spPr>
          <a:xfrm>
            <a:off x="767378" y="1186718"/>
            <a:ext cx="4862457" cy="29071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584376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762A-890E-D7A2-505E-0C902288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BFCC1A8-D7BA-2CB8-E865-85F4A284B7DA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 subject analysis - Scaling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CB137-508D-605B-034B-27F22FFF7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53" y="1546270"/>
            <a:ext cx="5784407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411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E193-BFE1-9CFB-5B6C-F80C0E0F1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0A758C4-E372-143B-7752-9756937C2AAB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 subject analysis - noise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D2C0EB-0C25-948E-293E-93D8A1AD8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98" y="1610216"/>
            <a:ext cx="578440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225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A83C-283F-3F99-15A4-4D055FD6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8C6220B-5B8C-923F-D95B-B74FA516E08D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 subject analysis – missing durations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A03C98-76FE-DE7C-0EDE-7B49B94F2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20" y="1598418"/>
            <a:ext cx="578440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665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2243D-FA46-395E-C826-238B579E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5ACB6AD-6064-3D1F-B4F6-4A4D2477E053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 subject analysis – missing frequencies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E44D0-C55B-56F9-33BC-F189BEC92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33" y="1545325"/>
            <a:ext cx="5784407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929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F768-4581-2504-EC5E-C07400EE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81678E-4358-22A4-F740-AB8A4BF4E410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 comparison to </a:t>
            </a:r>
            <a:r>
              <a:rPr lang="en-US" dirty="0" err="1"/>
              <a:t>lda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999016-85B4-942D-3742-8FAB93828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34" y="1680353"/>
            <a:ext cx="4891057" cy="4350766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C9955E2-D379-8065-5AEF-D9B0E48D4C24}"/>
              </a:ext>
            </a:extLst>
          </p:cNvPr>
          <p:cNvSpPr txBox="1">
            <a:spLocks/>
          </p:cNvSpPr>
          <p:nvPr/>
        </p:nvSpPr>
        <p:spPr>
          <a:xfrm>
            <a:off x="6096000" y="1894013"/>
            <a:ext cx="5258305" cy="1822937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2416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420" indent="-4000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Accuracy list is almost identical, subjects 4 and 7 seem to be hard on </a:t>
            </a:r>
            <a:r>
              <a:rPr lang="en-US" dirty="0" err="1"/>
              <a:t>EEGNet</a:t>
            </a:r>
            <a:r>
              <a:rPr lang="en-US" dirty="0"/>
              <a:t>, while 5, 6, and 2 have inherently challenging patterns</a:t>
            </a:r>
          </a:p>
        </p:txBody>
      </p:sp>
    </p:spTree>
    <p:extLst>
      <p:ext uri="{BB962C8B-B14F-4D97-AF65-F5344CB8AC3E}">
        <p14:creationId xmlns:p14="http://schemas.microsoft.com/office/powerpoint/2010/main" val="4765939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9D75-DF73-107E-1E55-E43FD7BFE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ADD6ED4-2056-7D9F-D4AA-9905D38B5486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 per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306540-5B25-02E9-A674-A28F0617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507" y="1119649"/>
            <a:ext cx="642937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36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D5D2-85A2-AE2B-8468-D227ADFF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732E256-74BB-28CA-8E01-1BEF092DA3F8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Pairwise tests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49F84-C3F0-E89C-D2E6-65E28309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8" y="2097699"/>
            <a:ext cx="5489741" cy="4379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A365A-9415-FAF6-5AD4-4BEC5B2A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550" y="1772879"/>
            <a:ext cx="5938842" cy="366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124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A6665-3E1B-DD04-C774-608FCA3FB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3803F54-8EBF-4274-8429-34D219DA21F9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Correlation between sessions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7BAAB-7966-0BC2-F07E-532622231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50"/>
          <a:stretch>
            <a:fillRect/>
          </a:stretch>
        </p:blipFill>
        <p:spPr>
          <a:xfrm>
            <a:off x="3089564" y="1448666"/>
            <a:ext cx="5724957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302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D2F77-260B-E3EC-2999-EFBA149B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5B46CD2-9C63-8D40-F7F1-2E958362A08B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Prediction frequency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3C0E9-07D5-0172-916E-54A375F00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84" y="1848758"/>
            <a:ext cx="8782156" cy="40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76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B9B2E-02FC-6BC1-A8C9-7B5BE2243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34BE4B2-59B1-1AFA-ED9C-B4F78F1E5460}"/>
              </a:ext>
            </a:extLst>
          </p:cNvPr>
          <p:cNvSpPr txBox="1">
            <a:spLocks/>
          </p:cNvSpPr>
          <p:nvPr/>
        </p:nvSpPr>
        <p:spPr>
          <a:xfrm>
            <a:off x="420042" y="558801"/>
            <a:ext cx="9953308" cy="4990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Between Subject correlation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683405-235C-B646-B7C7-ACBF4F6E7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91" y="1668805"/>
            <a:ext cx="7069096" cy="400637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166F9F-7000-88CE-0031-8627877CA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228892"/>
              </p:ext>
            </p:extLst>
          </p:nvPr>
        </p:nvGraphicFramePr>
        <p:xfrm>
          <a:off x="6979004" y="3108111"/>
          <a:ext cx="5030049" cy="1127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97116">
                  <a:extLst>
                    <a:ext uri="{9D8B030D-6E8A-4147-A177-3AD203B41FA5}">
                      <a16:colId xmlns:a16="http://schemas.microsoft.com/office/drawing/2014/main" val="2932847851"/>
                    </a:ext>
                  </a:extLst>
                </a:gridCol>
                <a:gridCol w="1094804">
                  <a:extLst>
                    <a:ext uri="{9D8B030D-6E8A-4147-A177-3AD203B41FA5}">
                      <a16:colId xmlns:a16="http://schemas.microsoft.com/office/drawing/2014/main" val="659985164"/>
                    </a:ext>
                  </a:extLst>
                </a:gridCol>
                <a:gridCol w="1366012">
                  <a:extLst>
                    <a:ext uri="{9D8B030D-6E8A-4147-A177-3AD203B41FA5}">
                      <a16:colId xmlns:a16="http://schemas.microsoft.com/office/drawing/2014/main" val="1184311220"/>
                    </a:ext>
                  </a:extLst>
                </a:gridCol>
                <a:gridCol w="1772117">
                  <a:extLst>
                    <a:ext uri="{9D8B030D-6E8A-4147-A177-3AD203B41FA5}">
                      <a16:colId xmlns:a16="http://schemas.microsoft.com/office/drawing/2014/main" val="2701607870"/>
                    </a:ext>
                  </a:extLst>
                </a:gridCol>
              </a:tblGrid>
              <a:tr h="403341">
                <a:tc>
                  <a:txBody>
                    <a:bodyPr/>
                    <a:lstStyle/>
                    <a:p>
                      <a:r>
                        <a:rPr lang="en-US" sz="1400" dirty="0"/>
                        <a:t>Class A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 B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Holm adjusted P value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Significant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978834"/>
                  </a:ext>
                </a:extLst>
              </a:tr>
              <a:tr h="279872">
                <a:tc>
                  <a:txBody>
                    <a:bodyPr/>
                    <a:lstStyle/>
                    <a:p>
                      <a:r>
                        <a:rPr lang="en-US" sz="1400" dirty="0"/>
                        <a:t>Feet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 hand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0.0469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209"/>
                  </a:ext>
                </a:extLst>
              </a:tr>
              <a:tr h="279872">
                <a:tc>
                  <a:txBody>
                    <a:bodyPr/>
                    <a:lstStyle/>
                    <a:p>
                      <a:r>
                        <a:rPr lang="en-US" sz="1400" dirty="0"/>
                        <a:t>Feet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Right Hand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E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0.0469 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748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7898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{43B59B90-D1CC-49F6-ABB5-F1EFC611EE51}TF7521aafa-c748-4c40-a498-ba511be234dc0ce54cb2_win32-34d1ea855d09</Template>
  <TotalTime>28938</TotalTime>
  <Words>1267</Words>
  <Application>Microsoft Office PowerPoint</Application>
  <PresentationFormat>Widescreen</PresentationFormat>
  <Paragraphs>500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Calibri</vt:lpstr>
      <vt:lpstr>Courier New</vt:lpstr>
      <vt:lpstr>Tenorite</vt:lpstr>
      <vt:lpstr>Custom</vt:lpstr>
      <vt:lpstr>Week 3</vt:lpstr>
      <vt:lpstr>Week 3</vt:lpstr>
      <vt:lpstr>Week 3</vt:lpstr>
      <vt:lpstr>Week 3</vt:lpstr>
      <vt:lpstr>Week 3</vt:lpstr>
      <vt:lpstr>Week 3</vt:lpstr>
      <vt:lpstr>Week 4</vt:lpstr>
      <vt:lpstr>Week 4</vt:lpstr>
      <vt:lpstr>Week 4</vt:lpstr>
      <vt:lpstr>PowerPoint Presentation</vt:lpstr>
      <vt:lpstr>Week 4</vt:lpstr>
      <vt:lpstr>Week 4</vt:lpstr>
      <vt:lpstr>Week 4</vt:lpstr>
      <vt:lpstr>Week 4</vt:lpstr>
      <vt:lpstr>Week 4</vt:lpstr>
      <vt:lpstr>Week 4</vt:lpstr>
      <vt:lpstr>Week 5</vt:lpstr>
      <vt:lpstr>Week 5</vt:lpstr>
      <vt:lpstr>Week 5</vt:lpstr>
      <vt:lpstr>Week 5</vt:lpstr>
      <vt:lpstr>Week 5</vt:lpstr>
      <vt:lpstr>Week 5</vt:lpstr>
      <vt:lpstr>Week 5</vt:lpstr>
      <vt:lpstr>Week 5</vt:lpstr>
      <vt:lpstr>Week 6 </vt:lpstr>
      <vt:lpstr>Csp lda</vt:lpstr>
      <vt:lpstr>eegnet</vt:lpstr>
      <vt:lpstr>Eegnet – Scaling – both </vt:lpstr>
      <vt:lpstr>Eegnet – Scaling – Train </vt:lpstr>
      <vt:lpstr>Eegnet – Scaling – test </vt:lpstr>
      <vt:lpstr>PowerPoint Presentation</vt:lpstr>
      <vt:lpstr>Eegnet – noise – both </vt:lpstr>
      <vt:lpstr>Eegnet – noise – train </vt:lpstr>
      <vt:lpstr>Eegnet – noise – test set only preprocessed </vt:lpstr>
      <vt:lpstr>PowerPoint Presentation</vt:lpstr>
      <vt:lpstr>Eegnet – missing durations – both </vt:lpstr>
      <vt:lpstr>Eegnet – missing durations – train </vt:lpstr>
      <vt:lpstr>Eegnet – missing durations – Test  </vt:lpstr>
      <vt:lpstr>PowerPoint Presentation</vt:lpstr>
      <vt:lpstr>Eegnet – missing frequencies – both </vt:lpstr>
      <vt:lpstr>Eegnet – missing frequencies – train </vt:lpstr>
      <vt:lpstr>Eegnet – missing frequencies – test </vt:lpstr>
      <vt:lpstr>PowerPoint Presentation</vt:lpstr>
      <vt:lpstr>Class summaries</vt:lpstr>
      <vt:lpstr>Week 7</vt:lpstr>
      <vt:lpstr>eegnet</vt:lpstr>
      <vt:lpstr>Eegnet – Scaling – both </vt:lpstr>
      <vt:lpstr>Eegnet – Scaling – Train </vt:lpstr>
      <vt:lpstr>Eegnet – Scaling – test </vt:lpstr>
      <vt:lpstr>PowerPoint Presentation</vt:lpstr>
      <vt:lpstr>Eegnet – noise – both </vt:lpstr>
      <vt:lpstr>Eegnet – noise – train </vt:lpstr>
      <vt:lpstr>Eegnet – noise – test </vt:lpstr>
      <vt:lpstr>PowerPoint Presentation</vt:lpstr>
      <vt:lpstr>Eegnet – missing durations – both </vt:lpstr>
      <vt:lpstr>Eegnet – missing durations – train </vt:lpstr>
      <vt:lpstr>Eegnet – missing durations – Test  </vt:lpstr>
      <vt:lpstr>PowerPoint Presentation</vt:lpstr>
      <vt:lpstr>Eegnet – missing frequencies – both </vt:lpstr>
      <vt:lpstr>Eegnet – missing frequencies – train </vt:lpstr>
      <vt:lpstr>Eegnet – missing frequencies – test </vt:lpstr>
      <vt:lpstr>PowerPoint Presentation</vt:lpstr>
      <vt:lpstr>Week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Hind Ibrahim Ali Almainon Alzaabi</dc:creator>
  <cp:lastModifiedBy>Hind Ibrahim Ali Almainon Alzaabi</cp:lastModifiedBy>
  <cp:revision>42</cp:revision>
  <dcterms:created xsi:type="dcterms:W3CDTF">2025-06-11T16:49:22Z</dcterms:created>
  <dcterms:modified xsi:type="dcterms:W3CDTF">2026-07-23T10:21:47Z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