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12612-B9AF-4399-BB6D-36DF14E0C2C4}" type="datetimeFigureOut">
              <a:rPr lang="en-AE" smtClean="0"/>
              <a:t>10/06/2026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653B3-3783-4A7D-8E2B-47B4951B8EC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5703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653B3-3783-4A7D-8E2B-47B4951B8EC8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6255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284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70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C3D1438-E7DE-BCF4-D0DD-97184D8B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930" y="640097"/>
            <a:ext cx="4362148" cy="3474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9EB830E-59F9-793F-E2E7-110D033D7F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09929" y="4818889"/>
            <a:ext cx="4206701" cy="1188720"/>
          </a:xfrm>
        </p:spPr>
        <p:txBody>
          <a:bodyPr anchor="t">
            <a:normAutofit/>
          </a:bodyPr>
          <a:lstStyle>
            <a:lvl1pPr algn="l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C9C23E6-AA65-EED1-FC7F-E4138D9D0D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0950" cy="6858000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DCC7EC-EB64-3FA5-9B9F-4B65F8B35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6048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721EA9-D34D-C406-42C9-D1C3DC0550E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8A451BA-6597-98CC-3A5A-099DB05385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98AED2-58CC-D8F4-37CF-06D4C6AE08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6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23BF3C-9B75-66EF-8F1A-8B973817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764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B44AFE9-43F1-4797-1ECE-FD5190E58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1" y="4732531"/>
            <a:ext cx="4206240" cy="1380743"/>
          </a:xfrm>
        </p:spPr>
        <p:txBody>
          <a:bodyPr anchor="t">
            <a:normAutofit/>
          </a:bodyPr>
          <a:lstStyle>
            <a:lvl1pPr algn="l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47472" y="854346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A58B4-E2D1-FBC8-004D-0E9EEBBE13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44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1CC58D-28EC-93AD-7E10-1DA3DC63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7478991" cy="3635797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0B119D-A456-DE33-9525-49696D3F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FFB480A-CB2C-F6F3-1181-7B482DE48A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3339" y="5225354"/>
            <a:ext cx="6669986" cy="1545336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6322-573D-C8CC-7277-1611B428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C7DE3-77E6-7F1C-2D66-87946BDD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072A-E9FB-537C-7C31-2FB111D3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68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9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5">
            <a:extLst>
              <a:ext uri="{FF2B5EF4-FFF2-40B4-BE49-F238E27FC236}">
                <a16:creationId xmlns:a16="http://schemas.microsoft.com/office/drawing/2014/main" id="{373F4DFA-EB1C-0802-6DB6-F68036779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2787213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5443909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9C8A-FEAD-0E21-E6D3-D371287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F62FB-03E9-93F2-7A34-F233AFA3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E9323-6CD7-F266-CF02-4659EBD3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0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73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8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192" y="921782"/>
            <a:ext cx="8012703" cy="146304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192" y="2533094"/>
            <a:ext cx="8012694" cy="3689909"/>
          </a:xfrm>
        </p:spPr>
        <p:txBody>
          <a:bodyPr anchor="t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algn="l">
              <a:defRPr sz="1600">
                <a:solidFill>
                  <a:schemeClr val="tx1"/>
                </a:solidFill>
              </a:defRPr>
            </a:lvl2pPr>
            <a:lvl3pPr algn="l">
              <a:defRPr sz="1400">
                <a:solidFill>
                  <a:schemeClr val="tx1"/>
                </a:solidFill>
              </a:defRPr>
            </a:lvl3pPr>
            <a:lvl4pPr algn="l">
              <a:defRPr sz="1200">
                <a:solidFill>
                  <a:schemeClr val="tx1"/>
                </a:solidFill>
              </a:defRPr>
            </a:lvl4pPr>
            <a:lvl5pPr algn="l"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60B404-9532-4DA8-8A40-EC339A5BE63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99D92D-13BB-E0E1-DD69-482838D5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66880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282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4E9710-FA87-30E3-20CB-80AEB3E8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880" y="365760"/>
            <a:ext cx="9292920" cy="111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E17293-F2D5-8A51-CB65-CFF7717310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066409" y="1986161"/>
            <a:ext cx="9284368" cy="4236841"/>
          </a:xfrm>
        </p:spPr>
        <p:txBody>
          <a:bodyPr/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7AD265-7A5D-626D-3F70-B7BA0D0172D9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14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4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11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196D68-1BE9-332F-CE83-CA191A0963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395538"/>
            <a:ext cx="10515600" cy="4097337"/>
          </a:xfrm>
        </p:spPr>
        <p:txBody>
          <a:bodyPr/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0E4242-8CA0-457D-B3B1-7D78B4164321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8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3102182"/>
            <a:ext cx="4325112" cy="245973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62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74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358617"/>
            <a:ext cx="4145582" cy="481806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23954" y="841248"/>
            <a:ext cx="5681662" cy="4818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95276D-BBED-48BC-B459-1E9A16CF46CD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04C821-A160-CE80-AFE2-D2549F9F2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25011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437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09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33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90511"/>
            <a:ext cx="2724240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8B89DDCA-87DB-0908-C1FE-D16DEF7192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EBE519D-028D-D854-9791-84D8B687B3A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AF697B0-B4E5-EE0F-75F1-242A9E4FB1F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0" y="3011335"/>
            <a:ext cx="27182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233B23-1BCB-72C2-12F6-A6A2A6648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5905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690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54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4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6BBA9B-B728-DC67-AD0E-8B0CD6B2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1402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D3AF4A-6CE8-D602-8B43-2DBEE16BF0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7E8268-A223-BA56-F272-53477C7091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F7843C-45BC-E180-EC40-8C80397FBC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01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96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0" y="584339"/>
            <a:ext cx="4361688" cy="1261714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lang="en-US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32320" y="1979463"/>
            <a:ext cx="4362450" cy="43292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BFE376-D742-D564-3921-9EE06C25A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160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BE6B84-4C67-D49C-27F8-C862E16A8F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CDB1B9-EC53-82AC-9108-F0D1BBC43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BD4C5-5651-77FA-20CA-3D813654A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97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19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171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583413"/>
            <a:ext cx="3566160" cy="152704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6720" y="2212975"/>
            <a:ext cx="3566160" cy="409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F1B67D-ECBB-854F-CC29-CAAA9DB1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82129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8E04B-FD21-4A20-D196-257B310FD4B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B7A9C8-9922-276E-D7E7-BA37C3C590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BD9853-F841-5935-2E22-F5DA78B109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017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2212975"/>
            <a:ext cx="3401568" cy="409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lang="en-US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8ED8BF-3BC1-C0A7-67E1-8F6CE5DBA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4815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2C41D87-A2F7-832F-EE5D-4A82C089830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FFE48E-EFB9-58B7-9159-E1F3B1F35D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3AB52F-F281-1BB9-9D9F-9FC67E6B87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414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46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62317"/>
            <a:ext cx="2953618" cy="189280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05500C-1C2B-4DBE-7BD5-6BEE65AA2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3784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FC0BAFC-A983-7661-7BE4-9CB4E1AAE8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923978" y="5259333"/>
            <a:ext cx="255915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0480" y="4162318"/>
            <a:ext cx="758952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73E16F8-613D-6FF2-3AAE-FB4255DC1E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EC89D4-F3C3-252D-E57A-D34A76D8BD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166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13647"/>
            <a:ext cx="2953618" cy="1892808"/>
          </a:xfrm>
        </p:spPr>
        <p:txBody>
          <a:bodyPr anchor="b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5DDB1-0680-6692-8E8B-F9D50E915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53249" y="1315045"/>
            <a:ext cx="241769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66175"/>
            <a:ext cx="7409228" cy="2240280"/>
          </a:xfrm>
        </p:spPr>
        <p:txBody>
          <a:bodyPr anchor="b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DF332-3FBA-2C89-59F5-FA1778C498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902234" y="1160706"/>
            <a:ext cx="17541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E9CA5-FE3A-8B3B-FD85-EEC977EA262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2353708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916A20-C6D4-6297-2A89-F60B0B6D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3071719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3778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7840"/>
            <a:ext cx="10972802" cy="9704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715F3DA-3DCE-67E6-E94C-48C96A36C9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0080" y="365760"/>
            <a:ext cx="5898743" cy="4425696"/>
          </a:xfrm>
          <a:custGeom>
            <a:avLst/>
            <a:gdLst>
              <a:gd name="connsiteX0" fmla="*/ 2983368 w 6446520"/>
              <a:gd name="connsiteY0" fmla="*/ 0 h 4425696"/>
              <a:gd name="connsiteX1" fmla="*/ 3463152 w 6446520"/>
              <a:gd name="connsiteY1" fmla="*/ 0 h 4425696"/>
              <a:gd name="connsiteX2" fmla="*/ 3552820 w 6446520"/>
              <a:gd name="connsiteY2" fmla="*/ 7008 h 4425696"/>
              <a:gd name="connsiteX3" fmla="*/ 6446520 w 6446520"/>
              <a:gd name="connsiteY3" fmla="*/ 3302772 h 4425696"/>
              <a:gd name="connsiteX4" fmla="*/ 6446520 w 6446520"/>
              <a:gd name="connsiteY4" fmla="*/ 4425696 h 4425696"/>
              <a:gd name="connsiteX5" fmla="*/ 0 w 6446520"/>
              <a:gd name="connsiteY5" fmla="*/ 4425696 h 4425696"/>
              <a:gd name="connsiteX6" fmla="*/ 0 w 6446520"/>
              <a:gd name="connsiteY6" fmla="*/ 3302772 h 4425696"/>
              <a:gd name="connsiteX7" fmla="*/ 2893701 w 6446520"/>
              <a:gd name="connsiteY7" fmla="*/ 7008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520" h="4425696">
                <a:moveTo>
                  <a:pt x="2983368" y="0"/>
                </a:moveTo>
                <a:lnTo>
                  <a:pt x="3463152" y="0"/>
                </a:lnTo>
                <a:lnTo>
                  <a:pt x="3552820" y="7008"/>
                </a:lnTo>
                <a:cubicBezTo>
                  <a:pt x="5178169" y="176660"/>
                  <a:pt x="6446520" y="1587478"/>
                  <a:pt x="6446520" y="3302772"/>
                </a:cubicBezTo>
                <a:lnTo>
                  <a:pt x="6446520" y="4425696"/>
                </a:lnTo>
                <a:lnTo>
                  <a:pt x="0" y="4425696"/>
                </a:lnTo>
                <a:lnTo>
                  <a:pt x="0" y="3302772"/>
                </a:lnTo>
                <a:cubicBezTo>
                  <a:pt x="0" y="1587478"/>
                  <a:pt x="1268352" y="176660"/>
                  <a:pt x="2893701" y="7008"/>
                </a:cubicBezTo>
                <a:close/>
              </a:path>
            </a:pathLst>
          </a:custGeom>
          <a:blipFill dpi="0" rotWithShape="1">
            <a:blip r:embed="rId2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0303" y="365760"/>
            <a:ext cx="4571137" cy="4428871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66791B-F730-470C-BD5E-FFF8D449589F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EDA098-8E4B-3EB1-646C-4227A3202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21208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6841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308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8B008C-A5E8-826A-5F68-E2A4C542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10780776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1816163"/>
            <a:ext cx="3920691" cy="4540188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9516" y="1812758"/>
            <a:ext cx="6349381" cy="45401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762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9277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864236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4C77EC0-4873-6982-138B-77EBB60FCE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148" y="1676967"/>
            <a:ext cx="430420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9EA9F84E-FFD2-9D14-4000-EB54F50651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3476" y="1694325"/>
            <a:ext cx="5990360" cy="4207696"/>
          </a:xfrm>
          <a:custGeom>
            <a:avLst/>
            <a:gdLst>
              <a:gd name="connsiteX0" fmla="*/ 2983368 w 6446520"/>
              <a:gd name="connsiteY0" fmla="*/ 0 h 4425696"/>
              <a:gd name="connsiteX1" fmla="*/ 3463152 w 6446520"/>
              <a:gd name="connsiteY1" fmla="*/ 0 h 4425696"/>
              <a:gd name="connsiteX2" fmla="*/ 3552820 w 6446520"/>
              <a:gd name="connsiteY2" fmla="*/ 7008 h 4425696"/>
              <a:gd name="connsiteX3" fmla="*/ 6446520 w 6446520"/>
              <a:gd name="connsiteY3" fmla="*/ 3302772 h 4425696"/>
              <a:gd name="connsiteX4" fmla="*/ 6446520 w 6446520"/>
              <a:gd name="connsiteY4" fmla="*/ 4425696 h 4425696"/>
              <a:gd name="connsiteX5" fmla="*/ 0 w 6446520"/>
              <a:gd name="connsiteY5" fmla="*/ 4425696 h 4425696"/>
              <a:gd name="connsiteX6" fmla="*/ 0 w 6446520"/>
              <a:gd name="connsiteY6" fmla="*/ 3302772 h 4425696"/>
              <a:gd name="connsiteX7" fmla="*/ 2893701 w 6446520"/>
              <a:gd name="connsiteY7" fmla="*/ 7008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520" h="4425696">
                <a:moveTo>
                  <a:pt x="2983368" y="0"/>
                </a:moveTo>
                <a:lnTo>
                  <a:pt x="3463152" y="0"/>
                </a:lnTo>
                <a:lnTo>
                  <a:pt x="3552820" y="7008"/>
                </a:lnTo>
                <a:cubicBezTo>
                  <a:pt x="5178169" y="176660"/>
                  <a:pt x="6446520" y="1587478"/>
                  <a:pt x="6446520" y="3302772"/>
                </a:cubicBezTo>
                <a:lnTo>
                  <a:pt x="6446520" y="4425696"/>
                </a:lnTo>
                <a:lnTo>
                  <a:pt x="0" y="4425696"/>
                </a:lnTo>
                <a:lnTo>
                  <a:pt x="0" y="3302772"/>
                </a:lnTo>
                <a:cubicBezTo>
                  <a:pt x="0" y="1587478"/>
                  <a:pt x="1268352" y="176660"/>
                  <a:pt x="2893701" y="7008"/>
                </a:cubicBezTo>
                <a:close/>
              </a:path>
            </a:pathLst>
          </a:custGeom>
          <a:blipFill dpi="0" rotWithShape="1">
            <a:blip r:embed="rId2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B1DEFE62-48FB-6384-52E6-28C55B7237A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70C3045B-A291-FDD5-BEE7-EB765F9DE6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624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5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07161BC5-1283-62A1-6BD4-C13D4986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4" y="4846320"/>
            <a:ext cx="7525512" cy="1545336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6217EA84-48D2-BF27-881E-1EED3BB2FA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49021"/>
            <a:ext cx="10543032" cy="4205859"/>
          </a:xfrm>
        </p:spPr>
        <p:txBody>
          <a:bodyPr anchor="b">
            <a:normAutofit/>
          </a:bodyPr>
          <a:lstStyle>
            <a:lvl1pPr algn="ctr"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7A7CDD-9512-40CC-9351-FC0DE186CFBD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83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7792842B-25D6-4A1E-C1C2-AEE71B415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0" y="1371600"/>
            <a:ext cx="4114800" cy="411480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12DBA1DA-C8D5-2565-57BF-FEDE64BF70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353237"/>
            <a:ext cx="5937337" cy="6368237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08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E9039192-694E-62AB-FB7F-F6E80345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4" y="5687755"/>
            <a:ext cx="7525512" cy="60331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20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69733E3-85D7-9D43-FABD-E3A6C144668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35038" y="2390272"/>
            <a:ext cx="8321926" cy="3449054"/>
          </a:xfrm>
        </p:spPr>
        <p:txBody>
          <a:bodyPr anchor="b">
            <a:normAutofit/>
          </a:bodyPr>
          <a:lstStyle>
            <a:lvl1pPr algn="ctr"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CD72DDC7-047B-67C7-5CC9-82D9E661F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0377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317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2194560"/>
            <a:ext cx="8266176" cy="414223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000" b="0" cap="all" baseline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3600" b="0" cap="all" baseline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200" b="0" cap="all" baseline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8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1B1322-4C31-4D1F-88B1-5F79F56892AE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256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914399"/>
            <a:ext cx="8266176" cy="530860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0" cap="all" baseline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0" cap="all" baseline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0" cap="all" baseline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4D1622-620E-FFB0-8FFF-DB6230E152A6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3863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914400"/>
            <a:ext cx="8266176" cy="50292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000" b="0" cap="all" baseline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0" cap="all" baseline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0" cap="all" baseline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4D1622-620E-FFB0-8FFF-DB6230E152A6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234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20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008E7D-CE80-FED6-37C3-0C803497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7386" y="5349240"/>
            <a:ext cx="9052559" cy="466344"/>
          </a:xfrm>
        </p:spPr>
        <p:txBody>
          <a:bodyPr anchor="ctr"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rtl="1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858928B-5A9F-47D7-A728-92043F9C616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57387" y="1344168"/>
            <a:ext cx="9052559" cy="329184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5400" cap="all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rtl="1">
              <a:defRPr>
                <a:solidFill>
                  <a:schemeClr val="tx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7AD265-7A5D-626D-3F70-B7BA0D0172D9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36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9CADAEB-D17D-F975-9A7E-9ECADE7C1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5529263"/>
            <a:ext cx="8961121" cy="977900"/>
          </a:xfrm>
        </p:spPr>
        <p:txBody>
          <a:bodyPr anchor="ctr"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rtl="1">
              <a:defRPr/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77C66A4-AAA2-6143-2AAE-5C8823111D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400" y="1005839"/>
            <a:ext cx="8961438" cy="375189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cap="all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rtl="1">
              <a:defRPr/>
            </a:lvl1pPr>
          </a:lstStyle>
          <a:p>
            <a:fld id="{DF8418BD-2BA9-41CB-AB89-625779A7563D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52FC1-DF85-9E04-E064-E263DDD72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88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909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930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618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20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553615"/>
            <a:ext cx="6440258" cy="575510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126498-5D70-71A2-A52F-877C850B3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7586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1745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75F4D28-38E0-121F-D54D-1FCE2D63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2250544"/>
          </a:xfrm>
        </p:spPr>
        <p:txBody>
          <a:bodyPr anchor="t">
            <a:norm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3EFCC9B-CBB5-5DB3-0C1A-D7607EED4E3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731520" y="2931865"/>
            <a:ext cx="3595634" cy="3372519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1602F00-69F8-D44C-0F84-384694CA22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1497" y="598627"/>
            <a:ext cx="6304337" cy="5775923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157344-9CC7-412D-8C20-072BE86D5A11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86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669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473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8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7" r:id="rId2"/>
    <p:sldLayoutId id="2147483762" r:id="rId3"/>
    <p:sldLayoutId id="2147483945" r:id="rId4"/>
    <p:sldLayoutId id="2147483936" r:id="rId5"/>
    <p:sldLayoutId id="2147483759" r:id="rId6"/>
    <p:sldLayoutId id="2147483760" r:id="rId7"/>
    <p:sldLayoutId id="2147483761" r:id="rId8"/>
    <p:sldLayoutId id="2147483765" r:id="rId9"/>
    <p:sldLayoutId id="2147483770" r:id="rId10"/>
    <p:sldLayoutId id="2147483953" r:id="rId11"/>
    <p:sldLayoutId id="2147483948" r:id="rId12"/>
    <p:sldLayoutId id="2147483954" r:id="rId13"/>
    <p:sldLayoutId id="2147483769" r:id="rId14"/>
    <p:sldLayoutId id="2147483944" r:id="rId15"/>
    <p:sldLayoutId id="2147483771" r:id="rId16"/>
    <p:sldLayoutId id="2147483772" r:id="rId17"/>
    <p:sldLayoutId id="2147483774" r:id="rId18"/>
    <p:sldLayoutId id="2147483949" r:id="rId19"/>
    <p:sldLayoutId id="2147483950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2" r:id="rId27"/>
    <p:sldLayoutId id="2147483783" r:id="rId28"/>
    <p:sldLayoutId id="2147483784" r:id="rId29"/>
    <p:sldLayoutId id="2147483786" r:id="rId30"/>
    <p:sldLayoutId id="2147483787" r:id="rId31"/>
    <p:sldLayoutId id="2147483788" r:id="rId32"/>
    <p:sldLayoutId id="2147483789" r:id="rId33"/>
    <p:sldLayoutId id="2147483791" r:id="rId34"/>
    <p:sldLayoutId id="2147483947" r:id="rId35"/>
    <p:sldLayoutId id="2147483951" r:id="rId36"/>
    <p:sldLayoutId id="2147483952" r:id="rId37"/>
    <p:sldLayoutId id="2147483792" r:id="rId38"/>
    <p:sldLayoutId id="2147483793" r:id="rId39"/>
    <p:sldLayoutId id="2147483794" r:id="rId40"/>
    <p:sldLayoutId id="2147483941" r:id="rId41"/>
    <p:sldLayoutId id="2147483795" r:id="rId42"/>
    <p:sldLayoutId id="2147483796" r:id="rId43"/>
    <p:sldLayoutId id="2147483942" r:id="rId44"/>
    <p:sldLayoutId id="2147483943" r:id="rId45"/>
    <p:sldLayoutId id="2147483798" r:id="rId46"/>
    <p:sldLayoutId id="2147483799" r:id="rId47"/>
    <p:sldLayoutId id="2147483800" r:id="rId48"/>
    <p:sldLayoutId id="2147483801" r:id="rId49"/>
    <p:sldLayoutId id="2147483802" r:id="rId50"/>
    <p:sldLayoutId id="2147483803" r:id="rId51"/>
    <p:sldLayoutId id="2147483804" r:id="rId52"/>
    <p:sldLayoutId id="2147483805" r:id="rId53"/>
    <p:sldLayoutId id="2147483806" r:id="rId54"/>
    <p:sldLayoutId id="2147483807" r:id="rId55"/>
    <p:sldLayoutId id="2147483934" r:id="rId5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56B1-6699-70FC-2804-E82DCD46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4271132"/>
            <a:ext cx="7478991" cy="1050086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A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F369-FE11-073E-5579-2B17C8D2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DCA0F64A-11EC-C6CC-4AD1-96415F97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203920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C1E5-ED9A-7415-1170-C2EEE945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511737"/>
            <a:ext cx="9453420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Distilling the knowledge in a neural network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575DE-053C-47FE-BD6E-DFB98A0EB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393180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large models is computationally expensive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Solution(s):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suggests a compression technique using distillation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also suggests a new type of ensembles, specialists, that can be trained rapidly and in parallel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4002D1-2DC4-6CB0-A198-4C56FFE2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1D0F7-9224-BC94-E5C9-3E4218A33C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AE49-EBD0-242B-37B3-8FCED10E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D73D-D239-8BBC-1680-FC142DB9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Distilling the knowledge in a neural network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4E238-10D0-15F3-F204-75164BC15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42208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Distillation: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teacher model output a soft set of targets, this is what the student attempts to learn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temperature of the SoftMax function of the teacher, have the student learn the probabilities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combine learning soft probability distribution and hard targets by combining their cross entropies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soft targets retains the information while also regularizing the model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AE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MNIST and Speech Recognitio</a:t>
            </a:r>
            <a:r>
              <a:rPr lang="en-AE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tests, the distilled model did equally or better than the baseline models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AE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MNIST, performance did not drop when class labels for some points was removed and the bias adjusted</a:t>
            </a:r>
            <a:endParaRPr lang="en-A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DEE074-B853-6654-BA4D-33D263DF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E0334-6547-3292-BA0E-21F72C2D9B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66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B1598-035B-FD86-A42D-7318E63F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2995-CCBF-CA0F-616E-0855DA15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Distilling the knowledge in a neural network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5E274-3A5F-4DF3-5CE5-AF3FD3C22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4220869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Specialists: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an ensemble of one general model and many specialized models that learn a subset of classes that are confused with each other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 clustering algorithm on covariance matrix of the predictions of the general model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Specialists train extremely fast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specialists increases accuracy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specialists there are covering a model the higher the accuracy improvements 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A59F3A-A7AA-513B-5CAF-28B22193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C8245-C18A-3461-D860-5F124ED5F4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71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2A0F-6131-3A35-4E98-53205147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443A-9833-B5C5-9DE1-E6B7CC68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Deep Compression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C7109-1483-D2F2-9CC8-4E87A6905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4220869"/>
          </a:xfrm>
        </p:spPr>
        <p:txBody>
          <a:bodyPr>
            <a:noAutofit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are computationally and memory intensive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Solution(s):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suggests deep compression to reduce storage and computation requirements while retaining accuracy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compression: pruning, quantization and weight sharing, followed by Huffman coding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and quantization together allows you downsize to 3% of the original size without accuracy loss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and energy by pruning: 3-4x speedup, 3-7x less energy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BFB8A06-5B6D-D0C8-6590-30D5D637C0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68D3E-C6B8-4FB2-F77A-37A6C78D8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92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80B8-CEEA-708A-3DB7-D8356FD5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AD36-F9DA-E8C8-9278-AEC832E58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Compression 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397D9-EA4C-A0AF-A258-0E1E40006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4220869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Pruning:</a:t>
            </a:r>
            <a:r>
              <a:rPr lang="en-A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number of connections in a neural network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weights below a threshold are removed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 the remaining sparse weights to get the final weights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as a compressed sparse row format, the index difference instead of position</a:t>
            </a:r>
            <a:endParaRPr lang="en-AE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number of connections by 9-13x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E42A2F-48D9-4F13-5FF8-06448EE3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DB6C4-FB71-38C0-409C-AAB3093BCF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4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B83E-18B2-6987-1DB4-3A24EF4F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B75D-FAF4-763B-F19F-C4FE5B3C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Compression 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32C07-EF25-2F65-95B4-594832535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4220869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and weight sharing: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number of bits required to represent each weight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multiple connections share the same weight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a codebook that stores the indices of each connection's weight to its cluster, but causes negligible overhead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means clusters the weights, all weights in each cluster then take the value of the centroid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number of bits from 32 to 5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173AB3-0F74-D570-0585-F05F84CC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5ED5F-7C69-66A6-DA73-E3C319EB5D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19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6BF-2C39-E49B-9071-A821EA8D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F5D0-563C-9027-BDF6-C57B080F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Compression 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0EDF2-EBC4-C99D-E55E-470F17D84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254" y="1648989"/>
            <a:ext cx="10273727" cy="4220869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coding: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Lossless data compression method that stores the weights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compression: 35 to 49x without loss of accuracy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F983EA-32D6-0587-2A5B-8B67947F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E1F4-0B6E-68FE-5633-FB3A714103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86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7548-2DA4-60F2-2285-8792C1B1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4297-1D7A-7B46-F265-E97DB68A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MobileNets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FAFA7C-4846-896B-AC0F-268A45CE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2B069-6030-1BCF-8552-B737732180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FDBC094-C640-29F9-908E-F02CB8F50715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393180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architecture lightweight and computationally inexpensive enough to run on mobile and embedded applications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Solution(s):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suggests depth wise separable convolutions and 2 hyperparameters that tradeoff latency and accuracy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experimentation: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grain recognition, large scale geolocation, face attributes, object detection, face embeddings, accuracy remained constant or slightly decreased for a million parameter decrease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smoothly decrease accuracy as they increase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18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0DD2-EAA2-77A2-E059-2005A33F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F7938-5DA1-C70F-6B3A-83ABD7D7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MobileNets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FA137B-A104-6A0F-FB56-2234FA74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2C465-B384-43E1-04BC-8A904920F5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FE5C776-24C2-7335-0C08-06B1C38E7886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393180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wise separable convolutions:</a:t>
            </a:r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wise convolutions that applies a filter onto each channel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pointwise convolutions that combines the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splits the spatial and channels convolutions</a:t>
            </a:r>
          </a:p>
          <a:p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net (3x3 filters) reduces computation by 8-9 times than standard convolutions, with only a small reduction in accuracy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6BD13-C435-8FFA-C487-C9CC6F27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109" y="1035930"/>
            <a:ext cx="3435251" cy="280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0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CB0BC-DD36-2A93-3A55-5C1777C2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0D9F-0317-EF6C-8463-4794B472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MobileNets (cont.)</a:t>
            </a:r>
            <a:endParaRPr lang="en-AE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305EB7-2F63-9CAA-2D91-5559DCA8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A9AE0-85A4-D5DC-DD62-8993A79E11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96FF053-95AB-2308-A45C-D0C88BAD5D57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393180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Hyperparametrs: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 multiplier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A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to the input and output channels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 cost and number of parameters by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multiplier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A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to the input image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computational cost by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14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8495-9A5D-C6DE-713D-18AFEE6A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EE55-729E-C254-BD83-B0B8977E0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EfficientNet</a:t>
            </a:r>
            <a:endParaRPr lang="en-A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5B91BB9-3ACA-5D33-6E68-83D0BF1A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008FC-3128-5D81-E581-CA4D75C059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9A89B00-4928-96D1-F577-1311CA6307DB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465152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scaling models to increase accuracy also causes significant increase in computational requirements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Solution(s):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suggests a new scaling method, compound scaling, that can lead to better performance at lower scaling levels</a:t>
            </a:r>
          </a:p>
          <a:p>
            <a:pPr lvl="0"/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8x smaller and 6x faster than existing </a:t>
            </a:r>
            <a:r>
              <a:rPr lang="en-A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ConvNets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ach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A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ving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accuracies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BFB761-0329-3355-AA71-006B3B8DF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33" y="4249421"/>
            <a:ext cx="3545512" cy="2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94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20E3-A6EF-AC3C-5BD0-67F1DD41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4DBE-83DB-BA15-B5AF-E7D91C3D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endParaRPr lang="en-A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1D6FA3-A95A-294E-05A9-22489294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E1859-C417-A995-79B3-7782A6EFF4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04E8AC-FD66-7088-082F-5ADBC1177F0F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465152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pPr lvl="0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scales the input depth width and resolution simultaneously</a:t>
            </a:r>
          </a:p>
          <a:p>
            <a:pPr lvl="0"/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29EC8-B2A8-3C5C-B4D8-2264637F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906" y="2098311"/>
            <a:ext cx="3371875" cy="187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0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DC8C-3438-0068-1400-C2BAF459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21DF-99DD-B169-78D6-5B40B8FAC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MCUNet</a:t>
            </a:r>
            <a:endParaRPr lang="en-A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C81BD-F4F2-F2D2-ACB7-092F3426F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4D62-AF38-AF5D-F2CF-F88692732C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8D32BBF-54B7-ECD1-161D-C83608842A81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393180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deploy neural networks on very small devices with limited resources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Solution(s):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suggest addressing both the model and inference simultaneously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educed the memory usage by 3.4×, and acceleration of the inference by 1.7-3.3×  compared to TF-Lite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&gt;70% accuracy on ImageNet when run on an off the shelf commercial microcontroller</a:t>
            </a:r>
          </a:p>
          <a:p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16094-0815-782D-A082-953A3972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3" r="-1643"/>
          <a:stretch>
            <a:fillRect/>
          </a:stretch>
        </p:blipFill>
        <p:spPr>
          <a:xfrm>
            <a:off x="4147141" y="5119497"/>
            <a:ext cx="3590951" cy="136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40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E1FE-6645-2B1E-A9E5-1AF705419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AECB-CB3D-2AEC-CBED-0F5F9D18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11737"/>
            <a:ext cx="10878409" cy="816296"/>
          </a:xfrm>
        </p:spPr>
        <p:txBody>
          <a:bodyPr>
            <a:normAutofit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MCUNet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(cont.)</a:t>
            </a:r>
            <a:endParaRPr lang="en-A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3419BA-3039-6785-B768-A25AB255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6D486-F603-F4AC-8442-AFD3DB5BA9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2D873F6-9DC2-79D0-E6F0-D23E9C9DAB03}"/>
              </a:ext>
            </a:extLst>
          </p:cNvPr>
          <p:cNvSpPr txBox="1">
            <a:spLocks/>
          </p:cNvSpPr>
          <p:nvPr/>
        </p:nvSpPr>
        <p:spPr>
          <a:xfrm>
            <a:off x="864254" y="1648989"/>
            <a:ext cx="10273727" cy="393180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TinyNAS: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architecture search that finds the model that fits the constraints while also optimizing FLOPS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TinyEngine: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engine designed for the specific hardware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optimized C code to speed up runtime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Reuses memory since layers don’t run simultaneously, optimizing memory usage</a:t>
            </a: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 place depthwise convolutions where channels are outputted are placed in the no longer needed input channels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4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8AF3F-AA17-3329-A405-C763963B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36FAD6-7BAF-09B2-7299-1EFFCCED9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391" y="6356350"/>
            <a:ext cx="2706690" cy="365125"/>
          </a:xfrm>
        </p:spPr>
        <p:txBody>
          <a:bodyPr/>
          <a:lstStyle/>
          <a:p>
            <a:pPr algn="l"/>
            <a:r>
              <a:rPr lang="en-US" dirty="0"/>
              <a:t>Week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3DCCB-7D9A-E0BF-6B20-A24D81C173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F3D5E7C-8092-0CC7-288C-CDEB83A42022}"/>
              </a:ext>
            </a:extLst>
          </p:cNvPr>
          <p:cNvSpPr txBox="1">
            <a:spLocks/>
          </p:cNvSpPr>
          <p:nvPr/>
        </p:nvSpPr>
        <p:spPr>
          <a:xfrm>
            <a:off x="864254" y="572237"/>
            <a:ext cx="10527400" cy="5828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Tensorflow/Keras deep learning models: Classification of EEG signals, images, and data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signal classification model development: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Experimented with research inspired EEG architectures, including: </a:t>
            </a:r>
            <a:r>
              <a:rPr lang="en-A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ATCNet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models, CNN/TCN blocks, multi head attention, EEG preprocessing methods, to classify different motor imagery conditions</a:t>
            </a:r>
          </a:p>
          <a:p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social media account detection end to end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ML pipeline with preprocessing, model experimentation selection, </a:t>
            </a:r>
            <a:r>
              <a:rPr lang="en-A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ensemble experimentation, explainability, experiment tracking and versioning, and Flask/Docker model deployment on the cloud.</a:t>
            </a:r>
          </a:p>
          <a:p>
            <a:r>
              <a:rPr lang="en-A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Projects: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for sign language recognition, real time facial recognition attendance system, Poisonous mushrooms classification </a:t>
            </a:r>
          </a:p>
        </p:txBody>
      </p:sp>
    </p:spTree>
    <p:extLst>
      <p:ext uri="{BB962C8B-B14F-4D97-AF65-F5344CB8AC3E}">
        <p14:creationId xmlns:p14="http://schemas.microsoft.com/office/powerpoint/2010/main" val="3026701876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06425CD9-6AD2-4C0A-AA8A-EC616B39A798}" vid="{EC9F9972-29B2-4112-AC86-7DB2D5EABE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959</TotalTime>
  <Words>1015</Words>
  <Application>Microsoft Office PowerPoint</Application>
  <PresentationFormat>Widescreen</PresentationFormat>
  <Paragraphs>141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Felix Titling</vt:lpstr>
      <vt:lpstr>Goudy Old Style</vt:lpstr>
      <vt:lpstr>Times New Roman</vt:lpstr>
      <vt:lpstr>Archway</vt:lpstr>
      <vt:lpstr>Literature Review</vt:lpstr>
      <vt:lpstr>1- Distilling the knowledge in a neural network</vt:lpstr>
      <vt:lpstr>Distilling the knowledge in a neural network (cont.)</vt:lpstr>
      <vt:lpstr>Distilling the knowledge in a neural network (cont.)</vt:lpstr>
      <vt:lpstr>2- Deep Compression</vt:lpstr>
      <vt:lpstr>Deep Compression  (cont.)</vt:lpstr>
      <vt:lpstr>Deep Compression  (cont.)</vt:lpstr>
      <vt:lpstr>Deep Compression  (cont.)</vt:lpstr>
      <vt:lpstr>3- MobileNets</vt:lpstr>
      <vt:lpstr>MobileNets (cont.)</vt:lpstr>
      <vt:lpstr>MobileNets (cont.)</vt:lpstr>
      <vt:lpstr>4- EfficientNet</vt:lpstr>
      <vt:lpstr>EfficientNet</vt:lpstr>
      <vt:lpstr>5- MCUNet</vt:lpstr>
      <vt:lpstr>MCUNet (cont.)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Hind Alzaabi</dc:creator>
  <cp:lastModifiedBy>Hind Alzaabi</cp:lastModifiedBy>
  <cp:revision>10</cp:revision>
  <dcterms:created xsi:type="dcterms:W3CDTF">2026-06-08T01:56:37Z</dcterms:created>
  <dcterms:modified xsi:type="dcterms:W3CDTF">2026-06-10T16:17:00Z</dcterms:modified>
</cp:coreProperties>
</file>